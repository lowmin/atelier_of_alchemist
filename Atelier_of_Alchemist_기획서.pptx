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8633C-C9AC-4013-9F0D-97B12084F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7775AA-233F-4637-8B6A-35A9F63EA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B516C-7D64-42E0-A471-7B2A6387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CB0773-8414-41C4-ACD6-98B0158D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AD1D1E-4EE0-43B8-9924-94C62B3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3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797D5-A629-400D-8743-5B9E5E83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페이퍼로지 7 Bold" pitchFamily="2" charset="-127"/>
                <a:ea typeface="페이퍼로지 7 Bold" pitchFamily="2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7CAE2-5C6C-4DEE-8FE6-9A7CEDB3E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페이퍼로지 6 SemiBold" pitchFamily="2" charset="-127"/>
                <a:ea typeface="페이퍼로지 6 SemiBold" pitchFamily="2" charset="-127"/>
              </a:defRPr>
            </a:lvl1pPr>
            <a:lvl2pPr>
              <a:defRPr>
                <a:latin typeface="페이퍼로지 6 SemiBold" pitchFamily="2" charset="-127"/>
                <a:ea typeface="페이퍼로지 6 SemiBold" pitchFamily="2" charset="-127"/>
              </a:defRPr>
            </a:lvl2pPr>
            <a:lvl3pPr>
              <a:defRPr>
                <a:latin typeface="페이퍼로지 6 SemiBold" pitchFamily="2" charset="-127"/>
                <a:ea typeface="페이퍼로지 6 SemiBold" pitchFamily="2" charset="-127"/>
              </a:defRPr>
            </a:lvl3pPr>
            <a:lvl4pPr>
              <a:defRPr>
                <a:latin typeface="페이퍼로지 6 SemiBold" pitchFamily="2" charset="-127"/>
                <a:ea typeface="페이퍼로지 6 SemiBold" pitchFamily="2" charset="-127"/>
              </a:defRPr>
            </a:lvl4pPr>
            <a:lvl5pPr>
              <a:defRPr>
                <a:latin typeface="페이퍼로지 6 SemiBold" pitchFamily="2" charset="-127"/>
                <a:ea typeface="페이퍼로지 6 SemiBold" pitchFamily="2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859CE4-A183-4686-A025-6F833446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D7A5BD-53AF-4999-9B3B-704A039B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CC08EC-230E-4F89-86CF-618D9834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43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057EF-1318-4328-8C49-BCAC3F3C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5F6F13-3806-4306-81B0-E0D8DA0B0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6C950-C3DE-461B-8417-E5D5B3D9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A727F6-0ECB-4D5B-9FAA-349F6BC6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F7D30-C042-456A-90E8-261CCBD1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56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5F4A6-9D33-4376-AC7D-6B2918FF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739954-B09D-4DD5-9EA0-314A2957D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A26089-AFFC-48C9-8C96-0477E0320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156462-F41B-417D-8724-78737563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18BFE6-786F-408A-830B-0CA082D6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E6FD4-883B-4432-AE24-70F6811E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67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B4D21-1217-4ED9-9C5B-390805C25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D0729D-4A52-40CC-8B93-17316E3D2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9B7257-2CF1-4CC5-A71D-4A4C6F386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43B473-8D57-43B9-9255-E2817C56D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795EAD-2D72-40EA-92F1-6A1F6FF1A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366C05-5EA2-4510-9D5F-0A04831A8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D0FE898-5A7A-4959-9308-35FCEAC0D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EFDF79-3E45-437C-9808-7630227F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003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650E7-AF84-4280-8003-358862D3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AB9122-13D1-440F-9A83-CDEDE057A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F8E932-8F35-4706-91FE-1EDDFA0D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268532-F8AF-41CD-8930-68E9F949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10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1207F6-0E58-40C8-9B52-26E31201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05EC0C-B076-4739-9063-3D278E24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F5764-10A7-405C-8F91-27D4DF68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58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79F79-7F06-434D-AA0C-46D05F970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75615E-041E-4534-A588-1077830C7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293828-CD41-4F51-BA66-9DF478E19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309FC8-A8D4-4D84-8436-05436C6B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D3D6CA-8FD9-4872-90D1-ABF9C24C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0832BC-5172-41E3-82B1-8DC51393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86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19088-987A-4DF2-8623-AEE3C269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E07962-5F28-4F8C-B50D-8F411175EE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B9843D-B23C-4BB5-854E-409861BF4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671E8F-C9BE-4DE7-A732-7D4EF603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3A36DC-8089-4490-964E-3C445BAE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2ABDA5-E218-4BDC-8415-823E9F60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EFD39-A68D-46E6-BA6D-E597969F5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DD85C-1CBE-4106-8D7E-5A69586F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4324DB-458E-4E01-B1E2-C795FD49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28327A-BD26-4342-9DF2-FBBA6182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595D44-181F-4996-933A-EADA73EE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16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B2C682-01F2-4F11-BFD8-94F8870B6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66646-BF6D-4D2C-AF96-60BEBE185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1AC497-54F2-4737-A5CE-0A02C0FE5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E823E3-0637-46FB-901A-9CF26D753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0AA020-051C-4296-A79E-605FEB98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34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F8CBAC-A7C5-48B4-9834-9E2EEC04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C00984-F9A6-40A2-95E6-7B2FE4487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7E00E-40DB-4474-843B-BAAF74660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C059C-44BB-409B-B491-D5E623B20CA0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B704C8-4646-48BD-888E-65595BEF7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6474DB-D67F-4CEF-A153-5F0403BB1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2B59-F1E3-4170-8767-1553E00D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7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1AEEA-4364-4650-98ED-7FAFD3E20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페이퍼로지 8 ExtraBold" pitchFamily="2" charset="-127"/>
                <a:ea typeface="페이퍼로지 8 ExtraBold" pitchFamily="2" charset="-127"/>
              </a:rPr>
              <a:t>Atelier Of Alchemist</a:t>
            </a:r>
            <a:endParaRPr lang="ko-KR" altLang="en-US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4CE9FE-2DD8-44E2-9B24-19D67E2E75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게임 기획서</a:t>
            </a:r>
          </a:p>
        </p:txBody>
      </p:sp>
    </p:spTree>
    <p:extLst>
      <p:ext uri="{BB962C8B-B14F-4D97-AF65-F5344CB8AC3E}">
        <p14:creationId xmlns:p14="http://schemas.microsoft.com/office/powerpoint/2010/main" val="214323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B84B64-CBD6-4A23-8A27-064D18827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19F15A-8207-406E-B72B-DA28CE9D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장르 </a:t>
            </a:r>
            <a:r>
              <a:rPr lang="en-US" altLang="ko-KR" dirty="0"/>
              <a:t>: </a:t>
            </a:r>
            <a:r>
              <a:rPr lang="ko-KR" altLang="en-US" dirty="0"/>
              <a:t>연금술 시뮬레이션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ko-KR" altLang="en-US" dirty="0" err="1"/>
              <a:t>턴제</a:t>
            </a:r>
            <a:r>
              <a:rPr lang="ko-KR" altLang="en-US" dirty="0"/>
              <a:t> </a:t>
            </a:r>
            <a:r>
              <a:rPr lang="en-US" altLang="ko-KR" dirty="0"/>
              <a:t>RPG</a:t>
            </a:r>
          </a:p>
          <a:p>
            <a:r>
              <a:rPr lang="ko-KR" altLang="en-US" dirty="0"/>
              <a:t>플랫폼 </a:t>
            </a:r>
            <a:r>
              <a:rPr lang="en-US" altLang="ko-KR" dirty="0"/>
              <a:t>: PC (Windows)</a:t>
            </a:r>
          </a:p>
          <a:p>
            <a:r>
              <a:rPr lang="ko-KR" altLang="en-US" dirty="0"/>
              <a:t>개발 엔진</a:t>
            </a:r>
            <a:r>
              <a:rPr lang="en-US" altLang="ko-KR" dirty="0"/>
              <a:t> : Unreal Engine 5.5</a:t>
            </a:r>
          </a:p>
          <a:p>
            <a:r>
              <a:rPr lang="ko-KR" altLang="en-US" dirty="0"/>
              <a:t>컨셉</a:t>
            </a:r>
            <a:endParaRPr lang="en-US" altLang="ko-KR" dirty="0"/>
          </a:p>
          <a:p>
            <a:pPr lvl="1"/>
            <a:r>
              <a:rPr lang="ko-KR" altLang="en-US" dirty="0"/>
              <a:t>필드 채집 및 전투로 소재를 얻어 장비 및 아이템을 연금하고 점점 강해지는 </a:t>
            </a:r>
            <a:r>
              <a:rPr lang="en-US" altLang="ko-KR" dirty="0"/>
              <a:t>RPG</a:t>
            </a:r>
          </a:p>
          <a:p>
            <a:pPr lvl="1"/>
            <a:r>
              <a:rPr lang="ko-KR" altLang="en-US" dirty="0"/>
              <a:t>버프 </a:t>
            </a:r>
            <a:r>
              <a:rPr lang="en-US" altLang="ko-KR" dirty="0"/>
              <a:t>/ </a:t>
            </a:r>
            <a:r>
              <a:rPr lang="ko-KR" altLang="en-US" dirty="0" err="1"/>
              <a:t>디버프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힐 </a:t>
            </a:r>
            <a:r>
              <a:rPr lang="en-US" altLang="ko-KR" dirty="0"/>
              <a:t>/ </a:t>
            </a:r>
            <a:r>
              <a:rPr lang="ko-KR" altLang="en-US" dirty="0"/>
              <a:t>공격 등의 다양한 스킬을 가진 파티를 구성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6915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기획 의도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FE985-C73E-4241-8302-7B3AC2B5E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2-1. </a:t>
            </a:r>
            <a:r>
              <a:rPr lang="ko-KR" altLang="en-US" sz="2000" dirty="0"/>
              <a:t>주요 목표</a:t>
            </a:r>
            <a:endParaRPr lang="en-US" altLang="ko-KR" sz="2000" dirty="0"/>
          </a:p>
          <a:p>
            <a:r>
              <a:rPr lang="ko-KR" altLang="en-US" sz="2000" dirty="0"/>
              <a:t>일본 </a:t>
            </a:r>
            <a:r>
              <a:rPr lang="ko-KR" altLang="en-US" sz="2000" dirty="0" err="1"/>
              <a:t>거스트</a:t>
            </a:r>
            <a:r>
              <a:rPr lang="ko-KR" altLang="en-US" sz="2000" dirty="0"/>
              <a:t> 사의 </a:t>
            </a:r>
            <a:r>
              <a:rPr lang="en-US" altLang="ko-KR" sz="2000" dirty="0"/>
              <a:t>‘</a:t>
            </a:r>
            <a:r>
              <a:rPr lang="ko-KR" altLang="en-US" sz="2000" dirty="0"/>
              <a:t>아틀리에</a:t>
            </a:r>
            <a:r>
              <a:rPr lang="en-US" altLang="ko-KR" sz="2000" dirty="0"/>
              <a:t>’ </a:t>
            </a:r>
            <a:r>
              <a:rPr lang="ko-KR" altLang="en-US" sz="2000" dirty="0"/>
              <a:t>시리즈 등 </a:t>
            </a:r>
            <a:r>
              <a:rPr lang="en-US" altLang="ko-KR" sz="2000" dirty="0"/>
              <a:t>JRPG</a:t>
            </a:r>
            <a:r>
              <a:rPr lang="ko-KR" altLang="en-US" sz="2000" dirty="0"/>
              <a:t>의 </a:t>
            </a:r>
            <a:r>
              <a:rPr lang="ko-KR" altLang="en-US" sz="2000" dirty="0" err="1"/>
              <a:t>턴제</a:t>
            </a:r>
            <a:r>
              <a:rPr lang="ko-KR" altLang="en-US" sz="2000" dirty="0"/>
              <a:t> 전투 방식과</a:t>
            </a:r>
            <a:r>
              <a:rPr lang="en-US" altLang="ko-KR" sz="2000" dirty="0"/>
              <a:t> </a:t>
            </a:r>
            <a:r>
              <a:rPr lang="ko-KR" altLang="en-US" sz="2000" dirty="0"/>
              <a:t>플레이어가 직접 소재를 획득하여 입맛에 맞는 아이템을 제작하는 전략적 재미를 분석하고 직접 구현해보기 위해 기획하였습니다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2-2. </a:t>
            </a:r>
            <a:r>
              <a:rPr lang="ko-KR" altLang="en-US" sz="2000" dirty="0"/>
              <a:t>구현 요소</a:t>
            </a:r>
            <a:endParaRPr lang="en-US" altLang="ko-KR" sz="2000" dirty="0"/>
          </a:p>
          <a:p>
            <a:r>
              <a:rPr lang="ko-KR" altLang="en-US" sz="2000" dirty="0"/>
              <a:t>단순히 턴을 주고 받는 전투 방식이 아닌</a:t>
            </a:r>
            <a:r>
              <a:rPr lang="en-US" altLang="ko-KR" sz="2000" dirty="0"/>
              <a:t> </a:t>
            </a:r>
            <a:r>
              <a:rPr lang="ko-KR" altLang="en-US" sz="2000" dirty="0"/>
              <a:t>버프 및 </a:t>
            </a:r>
            <a:r>
              <a:rPr lang="ko-KR" altLang="en-US" sz="2000" dirty="0" err="1"/>
              <a:t>디버프로</a:t>
            </a:r>
            <a:r>
              <a:rPr lang="ko-KR" altLang="en-US" sz="2000" dirty="0"/>
              <a:t> 전투 유닛의 스피드가 변경되며 이에 따라 한 캐릭터가 한 번 행동할 동안 어떤 캐릭터는 그 이상 행동할 수 있는 전투 방식입니다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플레이어는 적의 공격 애니메이션 동안 가드를 할 수 있으며</a:t>
            </a:r>
            <a:r>
              <a:rPr lang="en-US" altLang="ko-KR" sz="2000" dirty="0"/>
              <a:t>, </a:t>
            </a:r>
            <a:r>
              <a:rPr lang="ko-KR" altLang="en-US" sz="2000" dirty="0"/>
              <a:t>타이밍에 맞춰 가드를 할 시 </a:t>
            </a:r>
            <a:r>
              <a:rPr lang="ko-KR" altLang="en-US" sz="2000" dirty="0" err="1"/>
              <a:t>패링이</a:t>
            </a:r>
            <a:r>
              <a:rPr lang="ko-KR" altLang="en-US" sz="2000" dirty="0"/>
              <a:t> 가능합니다</a:t>
            </a:r>
            <a:r>
              <a:rPr lang="en-US" altLang="ko-KR" sz="2000" dirty="0"/>
              <a:t>. </a:t>
            </a:r>
            <a:r>
              <a:rPr lang="ko-KR" altLang="en-US" sz="2000" dirty="0"/>
              <a:t>자칫 밋밋하기만 할 수 있는 </a:t>
            </a:r>
            <a:r>
              <a:rPr lang="ko-KR" altLang="en-US" sz="2000" dirty="0" err="1"/>
              <a:t>턴제</a:t>
            </a:r>
            <a:r>
              <a:rPr lang="ko-KR" altLang="en-US" sz="2000" dirty="0"/>
              <a:t> 전투 방식의 재미를 보완할 수 있다고 생각합니다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마을에서도 </a:t>
            </a:r>
            <a:r>
              <a:rPr lang="en-US" altLang="ko-KR" sz="2000" dirty="0" err="1"/>
              <a:t>npc</a:t>
            </a:r>
            <a:r>
              <a:rPr lang="ko-KR" altLang="en-US" sz="2000" dirty="0"/>
              <a:t>에게 의뢰를 수주하여 정해진 소재 및 아이템을 납품하고 보상을 얻을 수 있습니다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4068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게임 플레이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FE985-C73E-4241-8302-7B3AC2B5E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게임 플레이 루프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전투 준비</a:t>
            </a:r>
            <a:r>
              <a:rPr lang="en-US" altLang="ko-KR" sz="2000" dirty="0"/>
              <a:t>] </a:t>
            </a:r>
            <a:r>
              <a:rPr lang="ko-KR" altLang="en-US" sz="2000" dirty="0"/>
              <a:t>파티 구성 </a:t>
            </a:r>
            <a:r>
              <a:rPr lang="en-US" altLang="ko-KR" sz="2000" dirty="0"/>
              <a:t>/ </a:t>
            </a:r>
            <a:r>
              <a:rPr lang="ko-KR" altLang="en-US" sz="2000" dirty="0"/>
              <a:t>연금술 </a:t>
            </a:r>
            <a:r>
              <a:rPr lang="en-US" altLang="ko-KR" sz="2000" dirty="0"/>
              <a:t>/ </a:t>
            </a:r>
            <a:r>
              <a:rPr lang="ko-KR" altLang="en-US" sz="2000" dirty="0"/>
              <a:t>의뢰 수주 </a:t>
            </a:r>
            <a:r>
              <a:rPr lang="en-US" altLang="ko-KR" sz="2000" dirty="0"/>
              <a:t>/ </a:t>
            </a:r>
            <a:r>
              <a:rPr lang="ko-KR" altLang="en-US" sz="2000" dirty="0"/>
              <a:t>장비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탐험</a:t>
            </a:r>
            <a:r>
              <a:rPr lang="en-US" altLang="ko-KR" sz="2000" dirty="0"/>
              <a:t>] </a:t>
            </a:r>
            <a:r>
              <a:rPr lang="ko-KR" altLang="en-US" sz="2000" dirty="0"/>
              <a:t>필드 이동 </a:t>
            </a:r>
            <a:r>
              <a:rPr lang="en-US" altLang="ko-KR" sz="2000" dirty="0"/>
              <a:t>/ </a:t>
            </a:r>
            <a:r>
              <a:rPr lang="ko-KR" altLang="en-US" sz="2000" dirty="0"/>
              <a:t>소재 채집 </a:t>
            </a:r>
            <a:r>
              <a:rPr lang="en-US" altLang="ko-KR" sz="2000" dirty="0"/>
              <a:t>/ </a:t>
            </a:r>
            <a:r>
              <a:rPr lang="ko-KR" altLang="en-US" sz="2000" dirty="0"/>
              <a:t>적 조우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전투</a:t>
            </a:r>
            <a:r>
              <a:rPr lang="en-US" altLang="ko-KR" sz="2000" dirty="0"/>
              <a:t>] </a:t>
            </a:r>
            <a:r>
              <a:rPr lang="ko-KR" altLang="en-US" sz="2000" dirty="0"/>
              <a:t>전투 준비 단계를 바탕으로 적과 전투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보상</a:t>
            </a:r>
            <a:r>
              <a:rPr lang="en-US" altLang="ko-KR" sz="2000" dirty="0"/>
              <a:t>] </a:t>
            </a:r>
            <a:r>
              <a:rPr lang="ko-KR" altLang="en-US" sz="2000" dirty="0"/>
              <a:t>전투 완료 및 의뢰 완료로 경험치 및 아이템 획득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성장</a:t>
            </a:r>
            <a:r>
              <a:rPr lang="en-US" altLang="ko-KR" sz="2000" dirty="0"/>
              <a:t>] </a:t>
            </a:r>
            <a:r>
              <a:rPr lang="ko-KR" altLang="en-US" sz="2000" dirty="0"/>
              <a:t>획득한 경험치 및 아이템을 바탕으로 스킬 해금 및 </a:t>
            </a:r>
            <a:r>
              <a:rPr lang="ko-KR" altLang="en-US" sz="2000" dirty="0" err="1"/>
              <a:t>스탯</a:t>
            </a:r>
            <a:r>
              <a:rPr lang="ko-KR" altLang="en-US" sz="2000" dirty="0"/>
              <a:t> 상승 등의 성장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전투 규칙</a:t>
            </a:r>
            <a:endParaRPr lang="en-US" altLang="ko-KR" sz="2000" dirty="0"/>
          </a:p>
          <a:p>
            <a:pPr marL="800100" lvl="1" indent="-342900">
              <a:buAutoNum type="arabicPeriod"/>
            </a:pPr>
            <a:r>
              <a:rPr lang="ko-KR" altLang="en-US" sz="1600" dirty="0"/>
              <a:t>모든 유닛은 스피드 </a:t>
            </a:r>
            <a:r>
              <a:rPr lang="ko-KR" altLang="en-US" sz="1600" dirty="0" err="1"/>
              <a:t>스탯에</a:t>
            </a:r>
            <a:r>
              <a:rPr lang="ko-KR" altLang="en-US" sz="1600" dirty="0"/>
              <a:t> 따라 행동 순서가 정해지며</a:t>
            </a:r>
            <a:r>
              <a:rPr lang="en-US" altLang="ko-KR" sz="1600" dirty="0"/>
              <a:t>, </a:t>
            </a:r>
            <a:r>
              <a:rPr lang="ko-KR" altLang="en-US" sz="1600" dirty="0"/>
              <a:t>이 스피드 </a:t>
            </a:r>
            <a:r>
              <a:rPr lang="ko-KR" altLang="en-US" sz="1600" dirty="0" err="1"/>
              <a:t>스탯은</a:t>
            </a:r>
            <a:r>
              <a:rPr lang="ko-KR" altLang="en-US" sz="1600" dirty="0"/>
              <a:t> 버프 </a:t>
            </a:r>
            <a:r>
              <a:rPr lang="en-US" altLang="ko-KR" sz="1600" dirty="0"/>
              <a:t>/ </a:t>
            </a:r>
            <a:r>
              <a:rPr lang="ko-KR" altLang="en-US" sz="1600" dirty="0" err="1"/>
              <a:t>디버프에</a:t>
            </a:r>
            <a:r>
              <a:rPr lang="ko-KR" altLang="en-US" sz="1600" dirty="0"/>
              <a:t> 의해 실시간으로 변경됨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sz="1600" dirty="0"/>
              <a:t>스킬에는 재사용 대기 턴이 존재하여 플레이어의 전략이 중요함</a:t>
            </a:r>
            <a:r>
              <a:rPr lang="en-US" altLang="ko-KR" sz="1600" dirty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sz="1600" dirty="0" err="1"/>
              <a:t>파티원</a:t>
            </a:r>
            <a:r>
              <a:rPr lang="ko-KR" altLang="en-US" sz="1600" dirty="0"/>
              <a:t> 전원의 </a:t>
            </a:r>
            <a:r>
              <a:rPr lang="en-US" altLang="ko-KR" sz="1600" dirty="0"/>
              <a:t>HP</a:t>
            </a:r>
            <a:r>
              <a:rPr lang="ko-KR" altLang="en-US" sz="1600" dirty="0"/>
              <a:t>가 </a:t>
            </a:r>
            <a:r>
              <a:rPr lang="en-US" altLang="ko-KR" sz="1600" dirty="0"/>
              <a:t>0</a:t>
            </a:r>
            <a:r>
              <a:rPr lang="ko-KR" altLang="en-US" sz="1600" dirty="0"/>
              <a:t>이 되면 게임 오버가 되며</a:t>
            </a:r>
            <a:r>
              <a:rPr lang="en-US" altLang="ko-KR" sz="1600" dirty="0"/>
              <a:t>, </a:t>
            </a:r>
            <a:r>
              <a:rPr lang="ko-KR" altLang="en-US" sz="1600" dirty="0"/>
              <a:t>해당 모험에서 얻은 소재를 잃음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5CEC4204-2DDB-4C12-87B9-72EF2293B661}"/>
              </a:ext>
            </a:extLst>
          </p:cNvPr>
          <p:cNvSpPr/>
          <p:nvPr/>
        </p:nvSpPr>
        <p:spPr>
          <a:xfrm>
            <a:off x="234891" y="1825625"/>
            <a:ext cx="494950" cy="231853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55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레벨 디자인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1FE985-C73E-4241-8302-7B3AC2B5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661719" cy="38906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맵</a:t>
            </a:r>
            <a:endParaRPr lang="en-US" altLang="ko-KR" sz="200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7F06621-ECFE-4108-8A4C-2CCDE5F78785}"/>
              </a:ext>
            </a:extLst>
          </p:cNvPr>
          <p:cNvSpPr/>
          <p:nvPr/>
        </p:nvSpPr>
        <p:spPr>
          <a:xfrm>
            <a:off x="922789" y="2325848"/>
            <a:ext cx="2114026" cy="88084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마을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]</a:t>
            </a:r>
            <a:b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정비 및 의뢰 수주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923A2E-9908-4284-9195-7BC98F1AE64B}"/>
              </a:ext>
            </a:extLst>
          </p:cNvPr>
          <p:cNvSpPr/>
          <p:nvPr/>
        </p:nvSpPr>
        <p:spPr>
          <a:xfrm>
            <a:off x="3981974" y="2325848"/>
            <a:ext cx="2114026" cy="880844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필드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]</a:t>
            </a:r>
            <a:b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채집 및 적 조우</a:t>
            </a:r>
            <a:b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심볼 </a:t>
            </a:r>
            <a:r>
              <a:rPr lang="ko-KR" altLang="en-US" dirty="0" err="1">
                <a:latin typeface="페이퍼로지 7 Bold" pitchFamily="2" charset="-127"/>
                <a:ea typeface="페이퍼로지 7 Bold" pitchFamily="2" charset="-127"/>
              </a:rPr>
              <a:t>인카운터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8694460-F661-404A-917C-B201F491EF9D}"/>
              </a:ext>
            </a:extLst>
          </p:cNvPr>
          <p:cNvSpPr/>
          <p:nvPr/>
        </p:nvSpPr>
        <p:spPr>
          <a:xfrm>
            <a:off x="7004807" y="2325848"/>
            <a:ext cx="2114026" cy="88084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[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전투 맵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]</a:t>
            </a:r>
            <a:b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</a:b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전투</a:t>
            </a:r>
          </a:p>
        </p:txBody>
      </p:sp>
      <p:sp>
        <p:nvSpPr>
          <p:cNvPr id="8" name="화살표: 왼쪽/오른쪽 7">
            <a:extLst>
              <a:ext uri="{FF2B5EF4-FFF2-40B4-BE49-F238E27FC236}">
                <a16:creationId xmlns:a16="http://schemas.microsoft.com/office/drawing/2014/main" id="{9AD290DD-7175-4453-AED6-0DD2C5A4850F}"/>
              </a:ext>
            </a:extLst>
          </p:cNvPr>
          <p:cNvSpPr/>
          <p:nvPr/>
        </p:nvSpPr>
        <p:spPr>
          <a:xfrm>
            <a:off x="3245141" y="2627851"/>
            <a:ext cx="528507" cy="276837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왼쪽/오른쪽 8">
            <a:extLst>
              <a:ext uri="{FF2B5EF4-FFF2-40B4-BE49-F238E27FC236}">
                <a16:creationId xmlns:a16="http://schemas.microsoft.com/office/drawing/2014/main" id="{83520A3F-2E95-45EF-985C-AE0F2D81DFCC}"/>
              </a:ext>
            </a:extLst>
          </p:cNvPr>
          <p:cNvSpPr/>
          <p:nvPr/>
        </p:nvSpPr>
        <p:spPr>
          <a:xfrm>
            <a:off x="6286150" y="2627851"/>
            <a:ext cx="528507" cy="276837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0" y="3410445"/>
            <a:ext cx="10193323" cy="2998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마을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컨셉</a:t>
            </a:r>
            <a:r>
              <a:rPr lang="en-US" altLang="ko-KR" sz="2000" dirty="0"/>
              <a:t>] </a:t>
            </a:r>
            <a:r>
              <a:rPr lang="ko-KR" altLang="en-US" sz="2000" dirty="0"/>
              <a:t>주인공의 활동 거점이며</a:t>
            </a:r>
            <a:r>
              <a:rPr lang="en-US" altLang="ko-KR" sz="2000" dirty="0"/>
              <a:t>, </a:t>
            </a:r>
            <a:r>
              <a:rPr lang="ko-KR" altLang="en-US" sz="2000" dirty="0"/>
              <a:t>다양한 </a:t>
            </a:r>
            <a:r>
              <a:rPr lang="en-US" altLang="ko-KR" sz="2000" dirty="0" err="1"/>
              <a:t>npc</a:t>
            </a:r>
            <a:r>
              <a:rPr lang="ko-KR" altLang="en-US" sz="2000" dirty="0"/>
              <a:t>들이 배치되어 있는 숲 마을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특징</a:t>
            </a:r>
            <a:r>
              <a:rPr lang="en-US" altLang="ko-KR" sz="2000" dirty="0"/>
              <a:t>] 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1600" dirty="0"/>
              <a:t>연금술을 할 수 있는 아틀리에와 다른 </a:t>
            </a:r>
            <a:r>
              <a:rPr lang="en-US" altLang="ko-KR" sz="1600" dirty="0" err="1"/>
              <a:t>npc</a:t>
            </a:r>
            <a:r>
              <a:rPr lang="ko-KR" altLang="en-US" sz="1600" dirty="0"/>
              <a:t>들이 생활하는 공간과 </a:t>
            </a:r>
            <a:r>
              <a:rPr lang="ko-KR" altLang="en-US" sz="1600" dirty="0" err="1"/>
              <a:t>이어져있음</a:t>
            </a:r>
            <a:endParaRPr lang="en-US" altLang="ko-KR" sz="16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1600" dirty="0"/>
              <a:t>다른 필드로 이어지는 위치에 도달하면 맵 이동</a:t>
            </a:r>
            <a:endParaRPr lang="en-US" altLang="ko-KR" sz="16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6140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레벨 디자인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0" y="1741858"/>
            <a:ext cx="10193323" cy="2998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필드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컨셉</a:t>
            </a:r>
            <a:r>
              <a:rPr lang="en-US" altLang="ko-KR" sz="2000" dirty="0"/>
              <a:t>] </a:t>
            </a:r>
            <a:r>
              <a:rPr lang="ko-KR" altLang="en-US" sz="2000" dirty="0"/>
              <a:t>연금술의 소재를 획득하기 위한 마을 근처 숲으로</a:t>
            </a:r>
            <a:r>
              <a:rPr lang="en-US" altLang="ko-KR" sz="2000" dirty="0"/>
              <a:t>, </a:t>
            </a:r>
            <a:r>
              <a:rPr lang="ko-KR" altLang="en-US" sz="2000" dirty="0"/>
              <a:t>위험한 몬스터는 없음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특징</a:t>
            </a:r>
            <a:r>
              <a:rPr lang="en-US" altLang="ko-KR" sz="2000" dirty="0"/>
              <a:t>] 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1600" dirty="0"/>
              <a:t>다양한 채집 포인트가 존재</a:t>
            </a:r>
            <a:r>
              <a:rPr lang="en-US" altLang="ko-KR" sz="1600" dirty="0"/>
              <a:t>(</a:t>
            </a:r>
            <a:r>
              <a:rPr lang="ko-KR" altLang="en-US" sz="1600" dirty="0"/>
              <a:t>꽃</a:t>
            </a:r>
            <a:r>
              <a:rPr lang="en-US" altLang="ko-KR" sz="1600" dirty="0"/>
              <a:t>, </a:t>
            </a:r>
            <a:r>
              <a:rPr lang="ko-KR" altLang="en-US" sz="1600" dirty="0"/>
              <a:t>나무 등</a:t>
            </a:r>
            <a:r>
              <a:rPr lang="en-US" altLang="ko-KR" sz="1600" dirty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1600" dirty="0"/>
              <a:t>전투가 이루어지는 적 심볼이 존재</a:t>
            </a:r>
            <a:endParaRPr lang="en-US" altLang="ko-KR" sz="1600" dirty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sz="1600" dirty="0" err="1"/>
              <a:t>맵을</a:t>
            </a:r>
            <a:r>
              <a:rPr lang="ko-KR" altLang="en-US" sz="1600" dirty="0"/>
              <a:t> 가르는 강이 존재하며 플레이어는 물을 직접 이동할 수 없음</a:t>
            </a:r>
            <a:endParaRPr lang="en-US" altLang="ko-KR" sz="2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CFB67E2-26D6-415D-A40F-33475A1D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87" y="3959604"/>
            <a:ext cx="2120493" cy="20785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5BA507C-B8C1-43C7-A048-7CB7FEFAF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940" y="4350103"/>
            <a:ext cx="1390650" cy="10763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2835609-6D03-41CA-BCCF-4E2A982C4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850" y="3992915"/>
            <a:ext cx="1524000" cy="17907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3739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레벨 디자인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0" y="1741858"/>
            <a:ext cx="10193323" cy="2998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적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뱀</a:t>
            </a:r>
            <a:r>
              <a:rPr lang="en-US" altLang="ko-KR" sz="2000" dirty="0"/>
              <a:t>] </a:t>
            </a:r>
            <a:r>
              <a:rPr lang="ko-KR" altLang="en-US" sz="1800" dirty="0"/>
              <a:t>가장 기본적인 몬스터로 특수 </a:t>
            </a:r>
            <a:r>
              <a:rPr lang="ko-KR" altLang="en-US" sz="1800" dirty="0" err="1"/>
              <a:t>기믹은</a:t>
            </a:r>
            <a:r>
              <a:rPr lang="ko-KR" altLang="en-US" sz="1800" dirty="0"/>
              <a:t> 존재하지 않고</a:t>
            </a:r>
            <a:r>
              <a:rPr lang="en-US" altLang="ko-KR" sz="1800" dirty="0"/>
              <a:t>, </a:t>
            </a:r>
            <a:r>
              <a:rPr lang="ko-KR" altLang="en-US" sz="1800" dirty="0"/>
              <a:t>오직 단일 공격</a:t>
            </a:r>
            <a:r>
              <a:rPr lang="en-US" altLang="ko-KR" sz="1800" dirty="0"/>
              <a:t>. </a:t>
            </a:r>
            <a:r>
              <a:rPr lang="ko-KR" altLang="en-US" sz="1800" dirty="0"/>
              <a:t>다만</a:t>
            </a:r>
            <a:r>
              <a:rPr lang="en-US" altLang="ko-KR" sz="1800" dirty="0"/>
              <a:t>, </a:t>
            </a:r>
            <a:r>
              <a:rPr lang="ko-KR" altLang="en-US" sz="1800" dirty="0"/>
              <a:t>무조건 </a:t>
            </a:r>
            <a:r>
              <a:rPr lang="en-US" altLang="ko-KR" sz="1800" dirty="0"/>
              <a:t>3</a:t>
            </a:r>
            <a:r>
              <a:rPr lang="ko-KR" altLang="en-US" sz="1800" dirty="0"/>
              <a:t>마리의 무리로 행동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쥐</a:t>
            </a:r>
            <a:r>
              <a:rPr lang="en-US" altLang="ko-KR" sz="2000" dirty="0"/>
              <a:t>] </a:t>
            </a:r>
            <a:r>
              <a:rPr lang="ko-KR" altLang="en-US" sz="1800" dirty="0"/>
              <a:t>빠른 스피드를 가지고 있으며 공격 할 수록 점차 스피드가 올라감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거미</a:t>
            </a:r>
            <a:r>
              <a:rPr lang="en-US" altLang="ko-KR" sz="2000" dirty="0"/>
              <a:t>] </a:t>
            </a:r>
            <a:r>
              <a:rPr lang="ko-KR" altLang="en-US" sz="1800" dirty="0"/>
              <a:t>플레이어의 스피드를 낮추는 공격을 사용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2000" dirty="0"/>
              <a:t>[</a:t>
            </a:r>
            <a:r>
              <a:rPr lang="ko-KR" altLang="en-US" sz="2000" dirty="0"/>
              <a:t>벌</a:t>
            </a:r>
            <a:r>
              <a:rPr lang="en-US" altLang="ko-KR" sz="2000" dirty="0"/>
              <a:t>] </a:t>
            </a:r>
            <a:r>
              <a:rPr lang="ko-KR" altLang="en-US" sz="1800" dirty="0"/>
              <a:t>지속적으로 캐릭터의 턴이 시작되면 데미지를 입히는 독 공격을 사용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CFB67E2-26D6-415D-A40F-33475A1D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3" y="4068661"/>
            <a:ext cx="2120493" cy="20785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BE1D10D-327C-4F1B-9F95-4AEF5E15A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542" y="4068661"/>
            <a:ext cx="2392695" cy="20785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8795C13-8185-4F96-9AB8-4ED54F9D9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223" y="4102848"/>
            <a:ext cx="3184583" cy="20101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D19FE4E-5900-4912-B7FC-B70C15778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7792" y="4122960"/>
            <a:ext cx="2287616" cy="19900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195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게임 시스템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0" y="1741858"/>
            <a:ext cx="9723539" cy="1687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캐릭터</a:t>
            </a:r>
            <a:r>
              <a:rPr lang="en-US" altLang="ko-KR" sz="2000" dirty="0"/>
              <a:t>(</a:t>
            </a:r>
            <a:r>
              <a:rPr lang="ko-KR" altLang="en-US" sz="2000" dirty="0"/>
              <a:t>플레이어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1800" dirty="0"/>
              <a:t>레벨</a:t>
            </a:r>
            <a:r>
              <a:rPr lang="en-US" altLang="ko-KR" sz="1800" dirty="0"/>
              <a:t>, </a:t>
            </a:r>
            <a:r>
              <a:rPr lang="ko-KR" altLang="en-US" sz="1800" dirty="0"/>
              <a:t>체력</a:t>
            </a:r>
            <a:r>
              <a:rPr lang="en-US" altLang="ko-KR" sz="1800" dirty="0"/>
              <a:t>, </a:t>
            </a:r>
            <a:r>
              <a:rPr lang="ko-KR" altLang="en-US" sz="1800" dirty="0"/>
              <a:t>공격력</a:t>
            </a:r>
            <a:r>
              <a:rPr lang="en-US" altLang="ko-KR" sz="1800" dirty="0"/>
              <a:t>, </a:t>
            </a:r>
            <a:r>
              <a:rPr lang="ko-KR" altLang="en-US" sz="1800" dirty="0"/>
              <a:t>방어력</a:t>
            </a:r>
            <a:r>
              <a:rPr lang="en-US" altLang="ko-KR" sz="1800" dirty="0"/>
              <a:t>, </a:t>
            </a:r>
            <a:r>
              <a:rPr lang="ko-KR" altLang="en-US" sz="1800" dirty="0"/>
              <a:t>스피드 </a:t>
            </a:r>
            <a:r>
              <a:rPr lang="ko-KR" altLang="en-US" sz="1800" dirty="0" err="1"/>
              <a:t>스탯</a:t>
            </a:r>
            <a:r>
              <a:rPr lang="ko-KR" altLang="en-US" sz="1800" dirty="0"/>
              <a:t> 존재</a:t>
            </a:r>
            <a:endParaRPr lang="en-US" altLang="ko-KR" sz="1800" dirty="0"/>
          </a:p>
          <a:p>
            <a:pPr lvl="1"/>
            <a:r>
              <a:rPr lang="ko-KR" altLang="en-US" sz="1800" dirty="0"/>
              <a:t>경험치 획득 시 레벨 상승</a:t>
            </a:r>
            <a:r>
              <a:rPr lang="en-US" altLang="ko-KR" sz="1800" dirty="0"/>
              <a:t>, </a:t>
            </a:r>
            <a:r>
              <a:rPr lang="ko-KR" altLang="en-US" sz="1800" dirty="0"/>
              <a:t>레벨 상승에 따른 </a:t>
            </a:r>
            <a:r>
              <a:rPr lang="ko-KR" altLang="en-US" sz="1800" dirty="0" err="1"/>
              <a:t>스탯</a:t>
            </a:r>
            <a:r>
              <a:rPr lang="ko-KR" altLang="en-US" sz="1800" dirty="0"/>
              <a:t> 증가 및 스킬 해금</a:t>
            </a:r>
            <a:endParaRPr lang="en-US" altLang="ko-KR" sz="1800" dirty="0"/>
          </a:p>
          <a:p>
            <a:pPr lvl="1"/>
            <a:r>
              <a:rPr lang="ko-KR" altLang="en-US" sz="1800" dirty="0"/>
              <a:t>총 세 명의 캐릭터 구현 예정이며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ko-KR" altLang="en-US" sz="1800" dirty="0"/>
              <a:t>체력이 높은 전사</a:t>
            </a:r>
            <a:r>
              <a:rPr lang="en-US" altLang="ko-KR" sz="1800" dirty="0"/>
              <a:t>, </a:t>
            </a:r>
            <a:r>
              <a:rPr lang="ko-KR" altLang="en-US" sz="1800" dirty="0"/>
              <a:t>아군의 스피드를 올려주는 도적</a:t>
            </a:r>
            <a:r>
              <a:rPr lang="en-US" altLang="ko-KR" sz="1800" dirty="0"/>
              <a:t>, </a:t>
            </a:r>
            <a:r>
              <a:rPr lang="ko-KR" altLang="en-US" sz="1800" dirty="0"/>
              <a:t>높은 공격력을 가지고 있는 마법사로 구상</a:t>
            </a:r>
            <a:endParaRPr lang="en-US" altLang="ko-KR" sz="180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5880FA2C-3B31-4DA2-9AFA-4E7D05BFD550}"/>
              </a:ext>
            </a:extLst>
          </p:cNvPr>
          <p:cNvSpPr txBox="1">
            <a:spLocks/>
          </p:cNvSpPr>
          <p:nvPr/>
        </p:nvSpPr>
        <p:spPr>
          <a:xfrm>
            <a:off x="838199" y="3597223"/>
            <a:ext cx="9723539" cy="1687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아이템</a:t>
            </a:r>
            <a:endParaRPr lang="en-US" altLang="ko-KR" sz="2000" dirty="0"/>
          </a:p>
          <a:p>
            <a:pPr lvl="1"/>
            <a:r>
              <a:rPr lang="ko-KR" altLang="en-US" sz="1800" dirty="0"/>
              <a:t>전투 중에 사용이 가능한 소모품</a:t>
            </a:r>
            <a:r>
              <a:rPr lang="en-US" altLang="ko-KR" sz="1800" dirty="0"/>
              <a:t>(</a:t>
            </a:r>
            <a:r>
              <a:rPr lang="ko-KR" altLang="en-US" sz="1800" dirty="0"/>
              <a:t>체력 </a:t>
            </a:r>
            <a:r>
              <a:rPr lang="ko-KR" altLang="en-US" sz="1800" dirty="0" err="1"/>
              <a:t>포션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dirty="0"/>
              <a:t>무기 및 방어구로 이루어져 플레이어에게 </a:t>
            </a:r>
            <a:r>
              <a:rPr lang="ko-KR" altLang="en-US" sz="1800" dirty="0" err="1"/>
              <a:t>스탯을</a:t>
            </a:r>
            <a:r>
              <a:rPr lang="ko-KR" altLang="en-US" sz="1800" dirty="0"/>
              <a:t> 추가해주는 장비</a:t>
            </a:r>
            <a:endParaRPr lang="en-US" altLang="ko-KR" sz="1800" dirty="0"/>
          </a:p>
          <a:p>
            <a:pPr lvl="1"/>
            <a:r>
              <a:rPr lang="ko-KR" altLang="en-US" sz="1800" dirty="0"/>
              <a:t>기본적으로 장비 및 소모품은 연금술 시스템으로 획득 가능</a:t>
            </a:r>
            <a:endParaRPr lang="en-US" altLang="ko-KR" sz="18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F896C33-299C-4CC4-8DD1-38D8CCFC52A7}"/>
              </a:ext>
            </a:extLst>
          </p:cNvPr>
          <p:cNvSpPr txBox="1">
            <a:spLocks/>
          </p:cNvSpPr>
          <p:nvPr/>
        </p:nvSpPr>
        <p:spPr>
          <a:xfrm>
            <a:off x="838198" y="5170858"/>
            <a:ext cx="9614485" cy="1322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연금술</a:t>
            </a:r>
            <a:endParaRPr lang="en-US" altLang="ko-KR" sz="2000" dirty="0"/>
          </a:p>
          <a:p>
            <a:pPr lvl="1"/>
            <a:r>
              <a:rPr lang="ko-KR" altLang="en-US" sz="1800" dirty="0"/>
              <a:t>채집 및 전투로 획득한 소재를 레시피에 맞게 조합하여 소모품 및 장비 아이템 획득 가능</a:t>
            </a:r>
            <a:endParaRPr lang="en-US" altLang="ko-KR" sz="1800" dirty="0"/>
          </a:p>
          <a:p>
            <a:pPr lvl="1"/>
            <a:r>
              <a:rPr lang="ko-KR" altLang="en-US" sz="1800" dirty="0"/>
              <a:t>조합에 사용한 소재 아이템의 등급에 따라 제작되는 아이템의 등급이 결정</a:t>
            </a:r>
            <a:br>
              <a:rPr lang="en-US" altLang="ko-KR" sz="1800" dirty="0"/>
            </a:br>
            <a:r>
              <a:rPr lang="ko-KR" altLang="en-US" sz="1800" dirty="0">
                <a:solidFill>
                  <a:srgbClr val="FF0000"/>
                </a:solidFill>
              </a:rPr>
              <a:t>베이스 소재</a:t>
            </a:r>
            <a:r>
              <a:rPr lang="en-US" altLang="ko-KR" sz="1800" dirty="0">
                <a:solidFill>
                  <a:srgbClr val="FF0000"/>
                </a:solidFill>
              </a:rPr>
              <a:t>(A </a:t>
            </a:r>
            <a:r>
              <a:rPr lang="ko-KR" altLang="en-US" sz="1800" dirty="0">
                <a:solidFill>
                  <a:srgbClr val="FF0000"/>
                </a:solidFill>
              </a:rPr>
              <a:t>등급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  <a:r>
              <a:rPr lang="ko-KR" altLang="en-US" sz="1800" dirty="0">
                <a:solidFill>
                  <a:srgbClr val="FF0000"/>
                </a:solidFill>
              </a:rPr>
              <a:t> </a:t>
            </a:r>
            <a:r>
              <a:rPr lang="en-US" altLang="ko-KR" sz="1800" dirty="0">
                <a:solidFill>
                  <a:srgbClr val="FF0000"/>
                </a:solidFill>
              </a:rPr>
              <a:t>+ </a:t>
            </a:r>
            <a:r>
              <a:rPr lang="ko-KR" altLang="en-US" sz="1800" dirty="0">
                <a:solidFill>
                  <a:srgbClr val="FF0000"/>
                </a:solidFill>
              </a:rPr>
              <a:t>추가 소재</a:t>
            </a:r>
            <a:r>
              <a:rPr lang="en-US" altLang="ko-KR" sz="1800" dirty="0">
                <a:solidFill>
                  <a:srgbClr val="FF0000"/>
                </a:solidFill>
              </a:rPr>
              <a:t>(C </a:t>
            </a:r>
            <a:r>
              <a:rPr lang="ko-KR" altLang="en-US" sz="1800" dirty="0">
                <a:solidFill>
                  <a:srgbClr val="FF0000"/>
                </a:solidFill>
              </a:rPr>
              <a:t>등급</a:t>
            </a:r>
            <a:r>
              <a:rPr lang="en-US" altLang="ko-KR" sz="1800" dirty="0">
                <a:solidFill>
                  <a:srgbClr val="FF0000"/>
                </a:solidFill>
              </a:rPr>
              <a:t>) = </a:t>
            </a:r>
            <a:r>
              <a:rPr lang="ko-KR" altLang="en-US" sz="1800" dirty="0">
                <a:solidFill>
                  <a:srgbClr val="FF0000"/>
                </a:solidFill>
              </a:rPr>
              <a:t>아이템</a:t>
            </a:r>
            <a:r>
              <a:rPr lang="en-US" altLang="ko-KR" sz="1800" dirty="0">
                <a:solidFill>
                  <a:srgbClr val="FF0000"/>
                </a:solidFill>
              </a:rPr>
              <a:t>(B </a:t>
            </a:r>
            <a:r>
              <a:rPr lang="ko-KR" altLang="en-US" sz="1800" dirty="0">
                <a:solidFill>
                  <a:srgbClr val="FF0000"/>
                </a:solidFill>
              </a:rPr>
              <a:t>등급</a:t>
            </a:r>
            <a:r>
              <a:rPr lang="en-US" altLang="ko-KR" sz="1800" dirty="0">
                <a:solidFill>
                  <a:srgbClr val="FF0000"/>
                </a:solidFill>
              </a:rPr>
              <a:t>)</a:t>
            </a:r>
          </a:p>
          <a:p>
            <a:pPr lvl="1"/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07181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게임 시스템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0" y="1741857"/>
            <a:ext cx="10822497" cy="4122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전투</a:t>
            </a:r>
            <a:endParaRPr lang="en-US" altLang="ko-KR" sz="2000" dirty="0"/>
          </a:p>
          <a:p>
            <a:pPr lvl="1"/>
            <a:r>
              <a:rPr lang="ko-KR" altLang="en-US" sz="1800" dirty="0"/>
              <a:t>전투 유닛의 스피드에 따라 턴이 나뉘며</a:t>
            </a:r>
            <a:r>
              <a:rPr lang="en-US" altLang="ko-KR" sz="1800" dirty="0"/>
              <a:t>, </a:t>
            </a:r>
            <a:r>
              <a:rPr lang="ko-KR" altLang="en-US" sz="1800" dirty="0"/>
              <a:t>버프 및 </a:t>
            </a:r>
            <a:r>
              <a:rPr lang="ko-KR" altLang="en-US" sz="1800" dirty="0" err="1"/>
              <a:t>디버프로</a:t>
            </a:r>
            <a:r>
              <a:rPr lang="ko-KR" altLang="en-US" sz="1800" dirty="0"/>
              <a:t> 속도가 변경되면 </a:t>
            </a:r>
            <a:r>
              <a:rPr lang="ko-KR" altLang="en-US" sz="1800" dirty="0" err="1"/>
              <a:t>델리게이트를</a:t>
            </a:r>
            <a:r>
              <a:rPr lang="ko-KR" altLang="en-US" sz="1800" dirty="0"/>
              <a:t> 통해 실시간으로 </a:t>
            </a:r>
            <a:r>
              <a:rPr lang="en-US" altLang="ko-KR" sz="1800" dirty="0"/>
              <a:t>UI </a:t>
            </a:r>
            <a:r>
              <a:rPr lang="ko-KR" altLang="en-US" sz="1800" dirty="0"/>
              <a:t>및 턴을 갱신</a:t>
            </a:r>
            <a:endParaRPr lang="en-US" altLang="ko-KR" sz="1800" dirty="0"/>
          </a:p>
          <a:p>
            <a:pPr lvl="1"/>
            <a:r>
              <a:rPr lang="ko-KR" altLang="en-US" sz="1800" dirty="0"/>
              <a:t>플레이어는 자신의 턴에 </a:t>
            </a:r>
            <a:r>
              <a:rPr lang="en-US" altLang="ko-KR" sz="1800" dirty="0"/>
              <a:t>[</a:t>
            </a:r>
            <a:r>
              <a:rPr lang="ko-KR" altLang="en-US" sz="1800" dirty="0"/>
              <a:t>공격</a:t>
            </a:r>
            <a:r>
              <a:rPr lang="en-US" altLang="ko-KR" sz="1800" dirty="0"/>
              <a:t>], [</a:t>
            </a:r>
            <a:r>
              <a:rPr lang="ko-KR" altLang="en-US" sz="1800" dirty="0"/>
              <a:t>스킬</a:t>
            </a:r>
            <a:r>
              <a:rPr lang="en-US" altLang="ko-KR" sz="1800" dirty="0"/>
              <a:t>], [</a:t>
            </a:r>
            <a:r>
              <a:rPr lang="ko-KR" altLang="en-US" sz="1800" dirty="0"/>
              <a:t>아이템</a:t>
            </a:r>
            <a:r>
              <a:rPr lang="en-US" altLang="ko-KR" sz="1800" dirty="0"/>
              <a:t>], [</a:t>
            </a:r>
            <a:r>
              <a:rPr lang="ko-KR" altLang="en-US" sz="1800" dirty="0"/>
              <a:t>도주</a:t>
            </a:r>
            <a:r>
              <a:rPr lang="en-US" altLang="ko-KR" sz="1800" dirty="0"/>
              <a:t>] </a:t>
            </a:r>
            <a:r>
              <a:rPr lang="ko-KR" altLang="en-US" sz="1800" dirty="0"/>
              <a:t>를 선택할 수 있음</a:t>
            </a: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[</a:t>
            </a:r>
            <a:r>
              <a:rPr lang="ko-KR" altLang="en-US" sz="1800" dirty="0">
                <a:solidFill>
                  <a:srgbClr val="FF0000"/>
                </a:solidFill>
              </a:rPr>
              <a:t>공격</a:t>
            </a:r>
            <a:r>
              <a:rPr lang="en-US" altLang="ko-KR" sz="1800" dirty="0">
                <a:solidFill>
                  <a:srgbClr val="FF0000"/>
                </a:solidFill>
              </a:rPr>
              <a:t>]</a:t>
            </a:r>
            <a:r>
              <a:rPr lang="en-US" altLang="ko-KR" sz="1800" dirty="0"/>
              <a:t> </a:t>
            </a:r>
            <a:r>
              <a:rPr lang="ko-KR" altLang="en-US" sz="1800" dirty="0"/>
              <a:t>단일 대상을 공격함</a:t>
            </a:r>
            <a:r>
              <a:rPr lang="en-US" altLang="ko-KR" sz="1800" dirty="0"/>
              <a:t>(</a:t>
            </a:r>
            <a:r>
              <a:rPr lang="ko-KR" altLang="en-US" sz="1800" dirty="0"/>
              <a:t>데미지는 순수 공격력 계수 </a:t>
            </a:r>
            <a:r>
              <a:rPr lang="en-US" altLang="ko-KR" sz="1800" dirty="0"/>
              <a:t>x1.0)</a:t>
            </a:r>
          </a:p>
          <a:p>
            <a:pPr marL="457200" lvl="1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[</a:t>
            </a:r>
            <a:r>
              <a:rPr lang="ko-KR" altLang="en-US" sz="1800" dirty="0">
                <a:solidFill>
                  <a:srgbClr val="FF0000"/>
                </a:solidFill>
              </a:rPr>
              <a:t>스킬</a:t>
            </a:r>
            <a:r>
              <a:rPr lang="en-US" altLang="ko-KR" sz="1800" dirty="0">
                <a:solidFill>
                  <a:srgbClr val="FF0000"/>
                </a:solidFill>
              </a:rPr>
              <a:t>] </a:t>
            </a:r>
            <a:r>
              <a:rPr lang="ko-KR" altLang="en-US" sz="1800" dirty="0"/>
              <a:t>캐릭터 별 </a:t>
            </a:r>
            <a:r>
              <a:rPr lang="en-US" altLang="ko-KR" sz="1800" dirty="0"/>
              <a:t>4</a:t>
            </a:r>
            <a:r>
              <a:rPr lang="ko-KR" altLang="en-US" sz="1800" dirty="0"/>
              <a:t>개의 스킬을 가지고 있으며</a:t>
            </a:r>
            <a:r>
              <a:rPr lang="en-US" altLang="ko-KR" sz="1800" dirty="0"/>
              <a:t>, [</a:t>
            </a:r>
            <a:r>
              <a:rPr lang="ko-KR" altLang="en-US" sz="1800" dirty="0"/>
              <a:t>버프</a:t>
            </a:r>
            <a:r>
              <a:rPr lang="en-US" altLang="ko-KR" sz="1800" dirty="0"/>
              <a:t>] [</a:t>
            </a:r>
            <a:r>
              <a:rPr lang="ko-KR" altLang="en-US" sz="1800" dirty="0" err="1"/>
              <a:t>디버프</a:t>
            </a:r>
            <a:r>
              <a:rPr lang="en-US" altLang="ko-KR" sz="1800" dirty="0"/>
              <a:t>] [</a:t>
            </a:r>
            <a:r>
              <a:rPr lang="ko-KR" altLang="en-US" sz="1800" dirty="0"/>
              <a:t>힐</a:t>
            </a:r>
            <a:r>
              <a:rPr lang="en-US" altLang="ko-KR" sz="1800" dirty="0"/>
              <a:t>] [</a:t>
            </a:r>
            <a:r>
              <a:rPr lang="ko-KR" altLang="en-US" sz="1800" dirty="0"/>
              <a:t>공격</a:t>
            </a:r>
            <a:r>
              <a:rPr lang="en-US" altLang="ko-KR" sz="1800" dirty="0"/>
              <a:t>(</a:t>
            </a:r>
            <a:r>
              <a:rPr lang="ko-KR" altLang="en-US" sz="1800" dirty="0"/>
              <a:t>단일 및 광역</a:t>
            </a:r>
            <a:r>
              <a:rPr lang="en-US" altLang="ko-KR" sz="1800" dirty="0"/>
              <a:t>] </a:t>
            </a:r>
            <a:r>
              <a:rPr lang="ko-KR" altLang="en-US" sz="1800" dirty="0"/>
              <a:t>으로 나누어짐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[</a:t>
            </a:r>
            <a:r>
              <a:rPr lang="ko-KR" altLang="en-US" sz="1800" dirty="0">
                <a:solidFill>
                  <a:srgbClr val="FF0000"/>
                </a:solidFill>
              </a:rPr>
              <a:t>아이템</a:t>
            </a:r>
            <a:r>
              <a:rPr lang="en-US" altLang="ko-KR" sz="1800" dirty="0">
                <a:solidFill>
                  <a:srgbClr val="FF0000"/>
                </a:solidFill>
              </a:rPr>
              <a:t>] </a:t>
            </a:r>
            <a:r>
              <a:rPr lang="ko-KR" altLang="en-US" sz="1800" dirty="0"/>
              <a:t>체력 회복을 할 수 있는 </a:t>
            </a:r>
            <a:r>
              <a:rPr lang="ko-KR" altLang="en-US" sz="1800" dirty="0" err="1"/>
              <a:t>포션을</a:t>
            </a:r>
            <a:r>
              <a:rPr lang="ko-KR" altLang="en-US" sz="1800" dirty="0"/>
              <a:t> 사용할 수 있음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[</a:t>
            </a:r>
            <a:r>
              <a:rPr lang="ko-KR" altLang="en-US" sz="1800" dirty="0">
                <a:solidFill>
                  <a:srgbClr val="FF0000"/>
                </a:solidFill>
              </a:rPr>
              <a:t>도주</a:t>
            </a:r>
            <a:r>
              <a:rPr lang="en-US" altLang="ko-KR" sz="1800" dirty="0">
                <a:solidFill>
                  <a:srgbClr val="FF0000"/>
                </a:solidFill>
              </a:rPr>
              <a:t>] </a:t>
            </a:r>
            <a:r>
              <a:rPr lang="ko-KR" altLang="en-US" sz="1800" dirty="0"/>
              <a:t>일정 확률</a:t>
            </a:r>
            <a:r>
              <a:rPr lang="en-US" altLang="ko-KR" sz="1800" dirty="0"/>
              <a:t>(</a:t>
            </a:r>
            <a:r>
              <a:rPr lang="ko-KR" altLang="en-US" sz="1800" dirty="0"/>
              <a:t>플레이어와 몬스터의 레벨 차</a:t>
            </a:r>
            <a:r>
              <a:rPr lang="en-US" altLang="ko-KR" sz="1800" dirty="0"/>
              <a:t>)</a:t>
            </a:r>
            <a:r>
              <a:rPr lang="ko-KR" altLang="en-US" sz="1800" dirty="0"/>
              <a:t>로 전투를 진행하지 않고 원래 필드로 이동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59295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시스템 구현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1" y="1741858"/>
            <a:ext cx="10663106" cy="1244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파티 시스템</a:t>
            </a:r>
            <a:endParaRPr lang="en-US" altLang="ko-KR" sz="2000" dirty="0"/>
          </a:p>
          <a:p>
            <a:pPr lvl="1"/>
            <a:r>
              <a:rPr lang="en-US" altLang="ko-KR" sz="1800" dirty="0" err="1"/>
              <a:t>GameInstanceSubsystem</a:t>
            </a:r>
            <a:r>
              <a:rPr lang="ko-KR" altLang="en-US" sz="1800" dirty="0"/>
              <a:t>으로 파티를 관리하는 서브시스템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PlayerRuntimeData</a:t>
            </a:r>
            <a:r>
              <a:rPr lang="ko-KR" altLang="en-US" sz="1800" dirty="0"/>
              <a:t>로 </a:t>
            </a:r>
            <a:r>
              <a:rPr lang="ko-KR" altLang="en-US" sz="1800" dirty="0" err="1"/>
              <a:t>맵을</a:t>
            </a:r>
            <a:r>
              <a:rPr lang="ko-KR" altLang="en-US" sz="1800" dirty="0"/>
              <a:t> 변경해도 파티의 상태를 실시간으로 불러올 수 있음</a:t>
            </a: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>
              <a:solidFill>
                <a:srgbClr val="FF0000"/>
              </a:solidFill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9B3DD27-D735-4105-BFC5-1C8CE7B78F56}"/>
              </a:ext>
            </a:extLst>
          </p:cNvPr>
          <p:cNvSpPr txBox="1">
            <a:spLocks/>
          </p:cNvSpPr>
          <p:nvPr/>
        </p:nvSpPr>
        <p:spPr>
          <a:xfrm>
            <a:off x="838201" y="2987881"/>
            <a:ext cx="10839274" cy="1785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캐릭터</a:t>
            </a:r>
            <a:r>
              <a:rPr lang="en-US" altLang="ko-KR" sz="2000" dirty="0"/>
              <a:t>(</a:t>
            </a:r>
            <a:r>
              <a:rPr lang="ko-KR" altLang="en-US" sz="2000" dirty="0"/>
              <a:t>플레이어</a:t>
            </a:r>
            <a:r>
              <a:rPr lang="en-US" altLang="ko-KR" sz="2000" dirty="0"/>
              <a:t>, </a:t>
            </a:r>
            <a:r>
              <a:rPr lang="ko-KR" altLang="en-US" sz="2000" dirty="0"/>
              <a:t>적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1800" dirty="0"/>
              <a:t>기본적으로 </a:t>
            </a:r>
            <a:r>
              <a:rPr lang="en-US" altLang="ko-KR" sz="1800" dirty="0" err="1"/>
              <a:t>CharacterBase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클래스를 상속받고 있으며</a:t>
            </a:r>
            <a:r>
              <a:rPr lang="en-US" altLang="ko-KR" sz="1800" dirty="0"/>
              <a:t>, Data Asset</a:t>
            </a:r>
            <a:r>
              <a:rPr lang="ko-KR" altLang="en-US" sz="1800" dirty="0"/>
              <a:t>을 통해 로직과 데이터를 분리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CharacterBase</a:t>
            </a:r>
            <a:r>
              <a:rPr lang="ko-KR" altLang="en-US" sz="1800" dirty="0"/>
              <a:t>를 상속받는 </a:t>
            </a:r>
            <a:r>
              <a:rPr lang="ko-KR" altLang="en-US" sz="1800" dirty="0" err="1"/>
              <a:t>전투맵에서</a:t>
            </a:r>
            <a:r>
              <a:rPr lang="ko-KR" altLang="en-US" sz="1800" dirty="0"/>
              <a:t> 사용할 </a:t>
            </a:r>
            <a:r>
              <a:rPr lang="en-US" altLang="ko-KR" sz="1800" dirty="0" err="1"/>
              <a:t>BattleUnit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클래스를 통해 공격</a:t>
            </a:r>
            <a:r>
              <a:rPr lang="en-US" altLang="ko-KR" sz="1800" dirty="0"/>
              <a:t>, </a:t>
            </a:r>
            <a:r>
              <a:rPr lang="ko-KR" altLang="en-US" sz="1800" dirty="0"/>
              <a:t>스킬 등의 로직을 구현</a:t>
            </a:r>
            <a:endParaRPr lang="en-US" altLang="ko-KR" sz="1800" dirty="0"/>
          </a:p>
          <a:p>
            <a:pPr lvl="1"/>
            <a:r>
              <a:rPr lang="ko-KR" altLang="en-US" sz="1800" dirty="0"/>
              <a:t>필드에서 사용하는 </a:t>
            </a:r>
            <a:r>
              <a:rPr lang="en-US" altLang="ko-KR" sz="1800" dirty="0"/>
              <a:t>Enemy </a:t>
            </a:r>
            <a:r>
              <a:rPr lang="ko-KR" altLang="en-US" sz="1800" dirty="0"/>
              <a:t>심볼은 </a:t>
            </a:r>
            <a:r>
              <a:rPr lang="en-US" altLang="ko-KR" sz="1800" dirty="0" err="1"/>
              <a:t>EnemyParty</a:t>
            </a:r>
            <a:r>
              <a:rPr lang="en-US" altLang="ko-KR" sz="1800" dirty="0"/>
              <a:t> Data</a:t>
            </a:r>
            <a:r>
              <a:rPr lang="ko-KR" altLang="en-US" sz="1800" dirty="0"/>
              <a:t> </a:t>
            </a:r>
            <a:r>
              <a:rPr lang="en-US" altLang="ko-KR" sz="1800" dirty="0"/>
              <a:t>Asset</a:t>
            </a:r>
            <a:r>
              <a:rPr lang="ko-KR" altLang="en-US" sz="1800" dirty="0"/>
              <a:t>을 받아 적의 목록을 불러옴</a:t>
            </a:r>
            <a:endParaRPr lang="en-US" altLang="ko-KR" sz="1800" dirty="0"/>
          </a:p>
          <a:p>
            <a:pPr lvl="1"/>
            <a:r>
              <a:rPr lang="ko-KR" altLang="en-US" sz="1800" dirty="0"/>
              <a:t>심볼은 가만히 있지 않고 플레이어를 따라와야 하기 때문에 전투 </a:t>
            </a:r>
            <a:r>
              <a:rPr lang="en-US" altLang="ko-KR" sz="1800" dirty="0"/>
              <a:t>AI</a:t>
            </a:r>
            <a:r>
              <a:rPr lang="ko-KR" altLang="en-US" sz="1800" dirty="0"/>
              <a:t>와 심볼 </a:t>
            </a:r>
            <a:r>
              <a:rPr lang="en-US" altLang="ko-KR" sz="1800" dirty="0"/>
              <a:t>AI</a:t>
            </a:r>
            <a:r>
              <a:rPr lang="ko-KR" altLang="en-US" sz="1800" dirty="0"/>
              <a:t>가 따로 존재함</a:t>
            </a:r>
            <a:endParaRPr lang="en-US" altLang="ko-KR" sz="1800" dirty="0"/>
          </a:p>
          <a:p>
            <a:pPr lvl="1"/>
            <a:endParaRPr lang="en-US" altLang="ko-KR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699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시스템 구현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1" y="1741858"/>
            <a:ext cx="10663106" cy="1244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게임모드 전환</a:t>
            </a:r>
            <a:endParaRPr lang="en-US" altLang="ko-KR" sz="2000" dirty="0"/>
          </a:p>
          <a:p>
            <a:pPr lvl="1"/>
            <a:r>
              <a:rPr lang="ko-KR" altLang="en-US" sz="1600" dirty="0"/>
              <a:t>필드에서의 </a:t>
            </a:r>
            <a:r>
              <a:rPr lang="en-US" altLang="ko-KR" sz="1600" dirty="0" err="1"/>
              <a:t>GameMode</a:t>
            </a:r>
            <a:r>
              <a:rPr lang="ko-KR" altLang="en-US" sz="1600" dirty="0"/>
              <a:t>와 전투에서의 </a:t>
            </a:r>
            <a:r>
              <a:rPr lang="en-US" altLang="ko-KR" sz="1600" dirty="0" err="1"/>
              <a:t>GameMode</a:t>
            </a:r>
            <a:r>
              <a:rPr lang="ko-KR" altLang="en-US" sz="1600" dirty="0"/>
              <a:t>를 따로 분리하여 </a:t>
            </a:r>
            <a:r>
              <a:rPr lang="en-US" altLang="ko-KR" sz="1600" dirty="0"/>
              <a:t>Controller</a:t>
            </a:r>
            <a:r>
              <a:rPr lang="ko-KR" altLang="en-US" sz="1600" dirty="0"/>
              <a:t>와 </a:t>
            </a:r>
            <a:r>
              <a:rPr lang="en-US" altLang="ko-KR" sz="1600" dirty="0"/>
              <a:t>UI</a:t>
            </a:r>
            <a:r>
              <a:rPr lang="ko-KR" altLang="en-US" sz="1600" dirty="0"/>
              <a:t>를 유연하게 전환</a:t>
            </a:r>
            <a:endParaRPr lang="en-US" altLang="ko-KR" sz="16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9B3DD27-D735-4105-BFC5-1C8CE7B78F56}"/>
              </a:ext>
            </a:extLst>
          </p:cNvPr>
          <p:cNvSpPr txBox="1">
            <a:spLocks/>
          </p:cNvSpPr>
          <p:nvPr/>
        </p:nvSpPr>
        <p:spPr>
          <a:xfrm>
            <a:off x="838201" y="2987881"/>
            <a:ext cx="10839274" cy="35049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전투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600" dirty="0"/>
              <a:t>[</a:t>
            </a:r>
            <a:r>
              <a:rPr lang="ko-KR" altLang="en-US" sz="1600" dirty="0"/>
              <a:t>턴 관리</a:t>
            </a:r>
            <a:r>
              <a:rPr lang="en-US" altLang="ko-KR" sz="1600" dirty="0"/>
              <a:t>]</a:t>
            </a:r>
            <a:br>
              <a:rPr lang="en-US" altLang="ko-KR" sz="1800" dirty="0"/>
            </a:br>
            <a:r>
              <a:rPr lang="ko-KR" altLang="en-US" sz="1400" dirty="0"/>
              <a:t>유닛의 스피드에 따라 행동 순서가 결정되는 턴을 큐 방식으로 구현</a:t>
            </a:r>
            <a:endParaRPr lang="en-US" altLang="ko-KR" sz="1400" dirty="0"/>
          </a:p>
          <a:p>
            <a:pPr marL="0" indent="0">
              <a:buNone/>
            </a:pPr>
            <a:br>
              <a:rPr lang="en-US" altLang="ko-KR" sz="1400" dirty="0"/>
            </a:br>
            <a:r>
              <a:rPr lang="ko-KR" altLang="en-US" sz="1400" i="1" dirty="0">
                <a:solidFill>
                  <a:srgbClr val="FF0000"/>
                </a:solidFill>
              </a:rPr>
              <a:t>전투 시작 시 모든 유닛을 </a:t>
            </a:r>
            <a:r>
              <a:rPr lang="en-US" altLang="ko-KR" sz="1400" i="1" dirty="0" err="1">
                <a:solidFill>
                  <a:srgbClr val="FF0000"/>
                </a:solidFill>
              </a:rPr>
              <a:t>TurnQueue</a:t>
            </a:r>
            <a:r>
              <a:rPr lang="ko-KR" altLang="en-US" sz="1400" i="1" dirty="0">
                <a:solidFill>
                  <a:srgbClr val="FF0000"/>
                </a:solidFill>
              </a:rPr>
              <a:t>에 등록 </a:t>
            </a:r>
            <a:r>
              <a:rPr lang="en-US" altLang="ko-KR" sz="1400" i="1" dirty="0">
                <a:solidFill>
                  <a:srgbClr val="FF0000"/>
                </a:solidFill>
              </a:rPr>
              <a:t>-&gt; </a:t>
            </a:r>
            <a:r>
              <a:rPr lang="ko-KR" altLang="en-US" sz="1400" i="1" dirty="0">
                <a:solidFill>
                  <a:srgbClr val="FF0000"/>
                </a:solidFill>
              </a:rPr>
              <a:t>스피드 </a:t>
            </a:r>
            <a:r>
              <a:rPr lang="ko-KR" altLang="en-US" sz="1400" i="1" dirty="0" err="1">
                <a:solidFill>
                  <a:srgbClr val="FF0000"/>
                </a:solidFill>
              </a:rPr>
              <a:t>스탯을</a:t>
            </a:r>
            <a:r>
              <a:rPr lang="ko-KR" altLang="en-US" sz="1400" i="1" dirty="0">
                <a:solidFill>
                  <a:srgbClr val="FF0000"/>
                </a:solidFill>
              </a:rPr>
              <a:t> 기준으로 내림차순 정렬 </a:t>
            </a:r>
            <a:r>
              <a:rPr lang="en-US" altLang="ko-KR" sz="1400" i="1" dirty="0">
                <a:solidFill>
                  <a:srgbClr val="FF0000"/>
                </a:solidFill>
              </a:rPr>
              <a:t>-&gt;</a:t>
            </a:r>
            <a:br>
              <a:rPr lang="en-US" altLang="ko-KR" sz="1400" i="1" dirty="0">
                <a:solidFill>
                  <a:srgbClr val="FF0000"/>
                </a:solidFill>
              </a:rPr>
            </a:br>
            <a:r>
              <a:rPr lang="ko-KR" altLang="en-US" sz="1400" i="1" dirty="0">
                <a:solidFill>
                  <a:srgbClr val="FF0000"/>
                </a:solidFill>
              </a:rPr>
              <a:t>가장 빠른 유닛이 </a:t>
            </a:r>
            <a:r>
              <a:rPr lang="en-US" altLang="ko-KR" sz="1400" i="1" dirty="0" err="1">
                <a:solidFill>
                  <a:srgbClr val="FF0000"/>
                </a:solidFill>
              </a:rPr>
              <a:t>TurnStart</a:t>
            </a:r>
            <a:r>
              <a:rPr lang="en-US" altLang="ko-KR" sz="1400" i="1" dirty="0">
                <a:solidFill>
                  <a:srgbClr val="FF0000"/>
                </a:solidFill>
              </a:rPr>
              <a:t> </a:t>
            </a:r>
            <a:r>
              <a:rPr lang="ko-KR" altLang="en-US" sz="1400" i="1" dirty="0">
                <a:solidFill>
                  <a:srgbClr val="FF0000"/>
                </a:solidFill>
              </a:rPr>
              <a:t>함수 실행 </a:t>
            </a:r>
            <a:r>
              <a:rPr lang="en-US" altLang="ko-KR" sz="1400" i="1" dirty="0">
                <a:solidFill>
                  <a:srgbClr val="FF0000"/>
                </a:solidFill>
              </a:rPr>
              <a:t>-&gt; </a:t>
            </a:r>
            <a:r>
              <a:rPr lang="ko-KR" altLang="en-US" sz="1400" i="1" dirty="0">
                <a:solidFill>
                  <a:srgbClr val="FF0000"/>
                </a:solidFill>
              </a:rPr>
              <a:t>행동 종료 시 해당 유닛을 큐의 맨 뒤로 보내거나 스피드 변경 시 재정렬</a:t>
            </a:r>
            <a:endParaRPr lang="en-US" altLang="ko-KR" sz="14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ko-KR" sz="1600" dirty="0"/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dirty="0"/>
              <a:t>[</a:t>
            </a:r>
            <a:r>
              <a:rPr lang="ko-KR" altLang="en-US" sz="1600" dirty="0"/>
              <a:t>데이터를 통한 스킬 시스템 구축</a:t>
            </a:r>
            <a:r>
              <a:rPr lang="en-US" altLang="ko-KR" sz="1600" dirty="0"/>
              <a:t>]</a:t>
            </a:r>
            <a:br>
              <a:rPr lang="en-US" altLang="ko-KR" sz="1600" dirty="0"/>
            </a:br>
            <a:r>
              <a:rPr lang="ko-KR" altLang="en-US" sz="1400" b="1" dirty="0"/>
              <a:t>타겟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단일 및 광역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투사체 및 </a:t>
            </a:r>
            <a:r>
              <a:rPr lang="ko-KR" altLang="en-US" sz="1400" b="1" dirty="0" err="1"/>
              <a:t>물리근접공격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효과 등을 </a:t>
            </a:r>
            <a:r>
              <a:rPr lang="en-US" altLang="ko-KR" sz="1400" b="1" dirty="0" err="1"/>
              <a:t>SkillDataAsset</a:t>
            </a:r>
            <a:r>
              <a:rPr lang="ko-KR" altLang="en-US" sz="1400" b="1" dirty="0"/>
              <a:t>의 구조로 </a:t>
            </a:r>
            <a:r>
              <a:rPr lang="ko-KR" altLang="en-US" sz="1400" b="1" dirty="0" err="1"/>
              <a:t>잡아두고</a:t>
            </a:r>
            <a:r>
              <a:rPr lang="ko-KR" altLang="en-US" sz="1400" b="1" dirty="0"/>
              <a:t> 로직을 구현하여 하드 코딩을 하지 않고 </a:t>
            </a:r>
            <a:r>
              <a:rPr lang="en-US" altLang="ko-KR" sz="1400" b="1" dirty="0" err="1"/>
              <a:t>DataAsset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만으로 손쉽고 빠르게 스킬을 구현 가능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2128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시스템 구현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1" y="1741858"/>
            <a:ext cx="10663106" cy="4575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연금술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기본적으로 아이템</a:t>
            </a:r>
            <a:r>
              <a:rPr lang="en-US" altLang="ko-KR" sz="2000" dirty="0"/>
              <a:t>, </a:t>
            </a:r>
            <a:r>
              <a:rPr lang="ko-KR" altLang="en-US" sz="2000" dirty="0"/>
              <a:t>레시피</a:t>
            </a:r>
            <a:r>
              <a:rPr lang="en-US" altLang="ko-KR" sz="2000" dirty="0"/>
              <a:t>, </a:t>
            </a:r>
            <a:r>
              <a:rPr lang="ko-KR" altLang="en-US" sz="2000" dirty="0"/>
              <a:t>채집 포인트 등을 모두 </a:t>
            </a:r>
            <a:r>
              <a:rPr lang="en-US" altLang="ko-KR" sz="2000" dirty="0" err="1"/>
              <a:t>DataAsset</a:t>
            </a:r>
            <a:r>
              <a:rPr lang="ko-KR" altLang="en-US" sz="2000" dirty="0"/>
              <a:t>으로 관리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600" dirty="0"/>
              <a:t>[</a:t>
            </a:r>
            <a:r>
              <a:rPr lang="ko-KR" altLang="en-US" sz="1600" dirty="0"/>
              <a:t>레시피</a:t>
            </a:r>
            <a:r>
              <a:rPr lang="en-US" altLang="ko-KR" sz="1600" dirty="0"/>
              <a:t>] </a:t>
            </a:r>
            <a:r>
              <a:rPr lang="ko-KR" altLang="en-US" sz="1600" dirty="0"/>
              <a:t>연금가마와 상호작용으로 연금술 </a:t>
            </a:r>
            <a:r>
              <a:rPr lang="en-US" altLang="ko-KR" sz="1600" dirty="0"/>
              <a:t>UI</a:t>
            </a:r>
            <a:r>
              <a:rPr lang="ko-KR" altLang="en-US" sz="1600" dirty="0"/>
              <a:t>를 볼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 때 플레이어가 획득한 레시피를 컬러로 화면에 보여줌</a:t>
            </a:r>
            <a:br>
              <a:rPr lang="en-US" altLang="ko-KR" sz="1600" dirty="0"/>
            </a:br>
            <a:r>
              <a:rPr lang="ko-KR" altLang="en-US" sz="1600" dirty="0"/>
              <a:t>결과물</a:t>
            </a:r>
            <a:r>
              <a:rPr lang="en-US" altLang="ko-KR" sz="1600" dirty="0"/>
              <a:t>, </a:t>
            </a:r>
            <a:r>
              <a:rPr lang="ko-KR" altLang="en-US" sz="1600" dirty="0"/>
              <a:t>결과로 나올 아이템의 개수</a:t>
            </a:r>
            <a:r>
              <a:rPr lang="en-US" altLang="ko-KR" sz="1600" dirty="0"/>
              <a:t>, </a:t>
            </a:r>
            <a:r>
              <a:rPr lang="ko-KR" altLang="en-US" sz="1600" dirty="0"/>
              <a:t>필요 소재 등의 데이터가 들어가 있으며 플레이어는 이를 선택하여 아이템 제작 가능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[</a:t>
            </a:r>
            <a:r>
              <a:rPr lang="ko-KR" altLang="en-US" sz="1600" dirty="0"/>
              <a:t>아이템</a:t>
            </a:r>
            <a:r>
              <a:rPr lang="en-US" altLang="ko-KR" sz="1600" dirty="0"/>
              <a:t>] </a:t>
            </a:r>
            <a:r>
              <a:rPr lang="ko-KR" altLang="en-US" sz="1600" dirty="0"/>
              <a:t>아이템의 이름</a:t>
            </a:r>
            <a:r>
              <a:rPr lang="en-US" altLang="ko-KR" sz="1600" dirty="0"/>
              <a:t>, </a:t>
            </a:r>
            <a:r>
              <a:rPr lang="ko-KR" altLang="en-US" sz="1600" dirty="0"/>
              <a:t>설명</a:t>
            </a:r>
            <a:r>
              <a:rPr lang="en-US" altLang="ko-KR" sz="1600" dirty="0"/>
              <a:t>, </a:t>
            </a:r>
            <a:r>
              <a:rPr lang="ko-KR" altLang="en-US" sz="1600" dirty="0"/>
              <a:t>카테고리를 지정할 수 있으며 이를 통해 손쉽게 아이템 효과를 구현 가능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[</a:t>
            </a:r>
            <a:r>
              <a:rPr lang="ko-KR" altLang="en-US" sz="1600" dirty="0"/>
              <a:t>채집 포인트</a:t>
            </a:r>
            <a:r>
              <a:rPr lang="en-US" altLang="ko-KR" sz="1600" dirty="0"/>
              <a:t>] </a:t>
            </a:r>
            <a:r>
              <a:rPr lang="en-US" altLang="ko-KR" sz="1600" dirty="0" err="1"/>
              <a:t>CollectingObject</a:t>
            </a:r>
            <a:r>
              <a:rPr lang="en-US" altLang="ko-KR" sz="1600" dirty="0"/>
              <a:t> </a:t>
            </a:r>
            <a:r>
              <a:rPr lang="ko-KR" altLang="en-US" sz="1600" dirty="0"/>
              <a:t>클래스를 상속받는 </a:t>
            </a:r>
            <a:r>
              <a:rPr lang="en-US" altLang="ko-KR" sz="1600" dirty="0"/>
              <a:t>Actor</a:t>
            </a:r>
            <a:r>
              <a:rPr lang="ko-KR" altLang="en-US" sz="1600" dirty="0"/>
              <a:t>로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ItemData</a:t>
            </a:r>
            <a:r>
              <a:rPr lang="ko-KR" altLang="en-US" sz="1600" dirty="0"/>
              <a:t>를 등록하여 </a:t>
            </a:r>
            <a:r>
              <a:rPr lang="ko-KR" altLang="en-US" sz="1600" dirty="0" err="1"/>
              <a:t>맵에</a:t>
            </a:r>
            <a:r>
              <a:rPr lang="ko-KR" altLang="en-US" sz="1600" dirty="0"/>
              <a:t> 맞는 아이템의 최대 등급 및 확률</a:t>
            </a:r>
            <a:r>
              <a:rPr lang="en-US" altLang="ko-KR" sz="1600" dirty="0"/>
              <a:t>, </a:t>
            </a:r>
            <a:r>
              <a:rPr lang="ko-KR" altLang="en-US" sz="1600" dirty="0"/>
              <a:t>획득 개수를 설정 할 수 있음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5477A3-5E7A-4254-9253-3294A45FC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29384"/>
            <a:ext cx="3368879" cy="2628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1036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1373E09-76A3-4CD9-AC36-3CA592C06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97" y="1468073"/>
            <a:ext cx="10391749" cy="52103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UI – </a:t>
            </a:r>
            <a:r>
              <a:rPr lang="ko-KR" altLang="en-US" dirty="0"/>
              <a:t>필드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9F1AE5-705B-4352-9E37-D33E165D5E7E}"/>
              </a:ext>
            </a:extLst>
          </p:cNvPr>
          <p:cNvSpPr/>
          <p:nvPr/>
        </p:nvSpPr>
        <p:spPr>
          <a:xfrm>
            <a:off x="10494628" y="2189527"/>
            <a:ext cx="713064" cy="1239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11E1E-6BE6-43AF-A6CF-28A6570CF327}"/>
              </a:ext>
            </a:extLst>
          </p:cNvPr>
          <p:cNvSpPr txBox="1"/>
          <p:nvPr/>
        </p:nvSpPr>
        <p:spPr>
          <a:xfrm>
            <a:off x="10421394" y="1881750"/>
            <a:ext cx="859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파티 상태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2BB742-E9CC-46A5-B438-DBA8C6C50E28}"/>
              </a:ext>
            </a:extLst>
          </p:cNvPr>
          <p:cNvSpPr/>
          <p:nvPr/>
        </p:nvSpPr>
        <p:spPr>
          <a:xfrm>
            <a:off x="6593747" y="5813571"/>
            <a:ext cx="4355284" cy="578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8FE5D-A6D7-4281-A38B-1A9B87F54635}"/>
              </a:ext>
            </a:extLst>
          </p:cNvPr>
          <p:cNvSpPr txBox="1"/>
          <p:nvPr/>
        </p:nvSpPr>
        <p:spPr>
          <a:xfrm>
            <a:off x="6593747" y="5505794"/>
            <a:ext cx="3677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인벤토리 등의 단축키를 알 수 있는 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UI (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구현 예정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)</a:t>
            </a:r>
            <a:endParaRPr lang="ko-KR" altLang="en-US" sz="1400" dirty="0">
              <a:solidFill>
                <a:srgbClr val="FF0000"/>
              </a:solidFill>
              <a:highlight>
                <a:srgbClr val="000000"/>
              </a:highligh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513892-F205-4EA2-B160-4D692E1B8B8E}"/>
              </a:ext>
            </a:extLst>
          </p:cNvPr>
          <p:cNvSpPr/>
          <p:nvPr/>
        </p:nvSpPr>
        <p:spPr>
          <a:xfrm>
            <a:off x="6495875" y="3912282"/>
            <a:ext cx="1683391" cy="5781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22B79-9DD2-41BB-B1D9-BA79751E6BDA}"/>
              </a:ext>
            </a:extLst>
          </p:cNvPr>
          <p:cNvSpPr txBox="1"/>
          <p:nvPr/>
        </p:nvSpPr>
        <p:spPr>
          <a:xfrm>
            <a:off x="6465551" y="3560676"/>
            <a:ext cx="2803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오브젝트에 접근 했을 때 상호작용 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UI</a:t>
            </a:r>
            <a:endParaRPr lang="ko-KR" altLang="en-US" sz="1400" dirty="0">
              <a:solidFill>
                <a:srgbClr val="FF0000"/>
              </a:solidFill>
              <a:highlight>
                <a:srgbClr val="000000"/>
              </a:highlight>
              <a:latin typeface="페이퍼로지 7 Bold" pitchFamily="2" charset="-127"/>
              <a:ea typeface="페이퍼로지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906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5F75E64-3753-45C9-B665-28083DBFE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35100"/>
            <a:ext cx="11582400" cy="505777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UI – </a:t>
            </a:r>
            <a:r>
              <a:rPr lang="ko-KR" altLang="en-US" dirty="0"/>
              <a:t>인벤토리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9F1AE5-705B-4352-9E37-D33E165D5E7E}"/>
              </a:ext>
            </a:extLst>
          </p:cNvPr>
          <p:cNvSpPr/>
          <p:nvPr/>
        </p:nvSpPr>
        <p:spPr>
          <a:xfrm>
            <a:off x="7968144" y="2035638"/>
            <a:ext cx="3700941" cy="40212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11E1E-6BE6-43AF-A6CF-28A6570CF327}"/>
              </a:ext>
            </a:extLst>
          </p:cNvPr>
          <p:cNvSpPr txBox="1"/>
          <p:nvPr/>
        </p:nvSpPr>
        <p:spPr>
          <a:xfrm>
            <a:off x="7904697" y="1754811"/>
            <a:ext cx="31630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마우스 커서를 올려 아이템 정보 확인 가능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513892-F205-4EA2-B160-4D692E1B8B8E}"/>
              </a:ext>
            </a:extLst>
          </p:cNvPr>
          <p:cNvSpPr/>
          <p:nvPr/>
        </p:nvSpPr>
        <p:spPr>
          <a:xfrm>
            <a:off x="838200" y="2402263"/>
            <a:ext cx="3029125" cy="8358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22B79-9DD2-41BB-B1D9-BA79751E6BDA}"/>
              </a:ext>
            </a:extLst>
          </p:cNvPr>
          <p:cNvSpPr txBox="1"/>
          <p:nvPr/>
        </p:nvSpPr>
        <p:spPr>
          <a:xfrm>
            <a:off x="764967" y="2106619"/>
            <a:ext cx="3530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아이템 목록과 개수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좌측 상단은 아이템의 등급</a:t>
            </a:r>
          </a:p>
        </p:txBody>
      </p:sp>
    </p:spTree>
    <p:extLst>
      <p:ext uri="{BB962C8B-B14F-4D97-AF65-F5344CB8AC3E}">
        <p14:creationId xmlns:p14="http://schemas.microsoft.com/office/powerpoint/2010/main" val="1189709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38AF43-C89E-4889-B637-37C736CE4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71" y="1380626"/>
            <a:ext cx="10167457" cy="51122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UI – </a:t>
            </a:r>
            <a:r>
              <a:rPr lang="ko-KR" altLang="en-US" dirty="0"/>
              <a:t>전투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9F1AE5-705B-4352-9E37-D33E165D5E7E}"/>
              </a:ext>
            </a:extLst>
          </p:cNvPr>
          <p:cNvSpPr/>
          <p:nvPr/>
        </p:nvSpPr>
        <p:spPr>
          <a:xfrm>
            <a:off x="4098720" y="5276675"/>
            <a:ext cx="3994557" cy="11409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11E1E-6BE6-43AF-A6CF-28A6570CF327}"/>
              </a:ext>
            </a:extLst>
          </p:cNvPr>
          <p:cNvSpPr txBox="1"/>
          <p:nvPr/>
        </p:nvSpPr>
        <p:spPr>
          <a:xfrm>
            <a:off x="4098720" y="4968898"/>
            <a:ext cx="2090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파티의 스피드와 체력 표시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513892-F205-4EA2-B160-4D692E1B8B8E}"/>
              </a:ext>
            </a:extLst>
          </p:cNvPr>
          <p:cNvSpPr/>
          <p:nvPr/>
        </p:nvSpPr>
        <p:spPr>
          <a:xfrm>
            <a:off x="896924" y="2894040"/>
            <a:ext cx="1158380" cy="20219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22B79-9DD2-41BB-B1D9-BA79751E6BDA}"/>
              </a:ext>
            </a:extLst>
          </p:cNvPr>
          <p:cNvSpPr txBox="1"/>
          <p:nvPr/>
        </p:nvSpPr>
        <p:spPr>
          <a:xfrm>
            <a:off x="838199" y="2552300"/>
            <a:ext cx="7008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턴 표시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4E434-C788-4132-B9EA-5902D93AF0ED}"/>
              </a:ext>
            </a:extLst>
          </p:cNvPr>
          <p:cNvSpPr txBox="1"/>
          <p:nvPr/>
        </p:nvSpPr>
        <p:spPr>
          <a:xfrm>
            <a:off x="7170489" y="2894040"/>
            <a:ext cx="227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공격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스킬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000000"/>
                </a:highlight>
                <a:latin typeface="페이퍼로지 7 Bold" pitchFamily="2" charset="-127"/>
                <a:ea typeface="페이퍼로지 7 Bold" pitchFamily="2" charset="-127"/>
              </a:rPr>
              <a:t>도주 등 행동 표시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D74E8E-E13E-4FE9-A813-9EA89E9BF3D2}"/>
              </a:ext>
            </a:extLst>
          </p:cNvPr>
          <p:cNvSpPr/>
          <p:nvPr/>
        </p:nvSpPr>
        <p:spPr>
          <a:xfrm>
            <a:off x="7233406" y="3234736"/>
            <a:ext cx="1533089" cy="13875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735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FC9FD-2CF5-44D5-B76D-B9DD0AC0F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개발 계획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8EEE8CE-F309-4E7D-AE2C-6BB49928A2BE}"/>
              </a:ext>
            </a:extLst>
          </p:cNvPr>
          <p:cNvSpPr txBox="1">
            <a:spLocks/>
          </p:cNvSpPr>
          <p:nvPr/>
        </p:nvSpPr>
        <p:spPr>
          <a:xfrm>
            <a:off x="838201" y="1741857"/>
            <a:ext cx="10663106" cy="449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페이퍼로지 6 SemiBold" pitchFamily="2" charset="-127"/>
                <a:ea typeface="페이퍼로지 6 SemiBold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주요 개발 단계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>
                <a:solidFill>
                  <a:srgbClr val="0070C0"/>
                </a:solidFill>
              </a:rPr>
              <a:t>필드 오브젝트 구현 </a:t>
            </a:r>
            <a:r>
              <a:rPr lang="en-US" altLang="ko-KR" sz="2000" dirty="0">
                <a:solidFill>
                  <a:srgbClr val="0070C0"/>
                </a:solidFill>
              </a:rPr>
              <a:t>(</a:t>
            </a:r>
            <a:r>
              <a:rPr lang="ko-KR" altLang="en-US" sz="2000" dirty="0">
                <a:solidFill>
                  <a:srgbClr val="0070C0"/>
                </a:solidFill>
              </a:rPr>
              <a:t>완료</a:t>
            </a:r>
            <a:r>
              <a:rPr lang="en-US" altLang="ko-KR" sz="2000" dirty="0">
                <a:solidFill>
                  <a:srgbClr val="0070C0"/>
                </a:solidFill>
              </a:rPr>
              <a:t>)</a:t>
            </a:r>
            <a:br>
              <a:rPr lang="en-US" altLang="ko-KR" sz="2000" dirty="0"/>
            </a:br>
            <a:r>
              <a:rPr lang="ko-KR" altLang="en-US" sz="2000" dirty="0"/>
              <a:t>채집 포인트</a:t>
            </a:r>
            <a:r>
              <a:rPr lang="en-US" altLang="ko-KR" sz="2000" dirty="0"/>
              <a:t>, Enemy </a:t>
            </a:r>
            <a:r>
              <a:rPr lang="ko-KR" altLang="en-US" sz="2000" dirty="0"/>
              <a:t>심볼</a:t>
            </a:r>
            <a:r>
              <a:rPr lang="en-US" altLang="ko-KR" sz="2000" dirty="0"/>
              <a:t>, </a:t>
            </a:r>
            <a:r>
              <a:rPr lang="ko-KR" altLang="en-US" sz="2000" dirty="0"/>
              <a:t>연금 가마 등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>
                <a:solidFill>
                  <a:srgbClr val="0070C0"/>
                </a:solidFill>
              </a:rPr>
              <a:t>연금술 시스템 구현 </a:t>
            </a:r>
            <a:r>
              <a:rPr lang="en-US" altLang="ko-KR" sz="2000" dirty="0">
                <a:solidFill>
                  <a:srgbClr val="0070C0"/>
                </a:solidFill>
              </a:rPr>
              <a:t>(</a:t>
            </a:r>
            <a:r>
              <a:rPr lang="ko-KR" altLang="en-US" sz="2000" dirty="0">
                <a:solidFill>
                  <a:srgbClr val="0070C0"/>
                </a:solidFill>
              </a:rPr>
              <a:t>완료</a:t>
            </a:r>
            <a:r>
              <a:rPr lang="en-US" altLang="ko-KR" sz="2000" dirty="0">
                <a:solidFill>
                  <a:srgbClr val="0070C0"/>
                </a:solidFill>
              </a:rPr>
              <a:t>)</a:t>
            </a:r>
            <a:br>
              <a:rPr lang="en-US" altLang="ko-KR" sz="2000" dirty="0"/>
            </a:br>
            <a:r>
              <a:rPr lang="en-US" altLang="ko-KR" sz="2000" dirty="0"/>
              <a:t>UI</a:t>
            </a:r>
            <a:r>
              <a:rPr lang="ko-KR" altLang="en-US" sz="2000" dirty="0"/>
              <a:t> 추가 </a:t>
            </a:r>
            <a:r>
              <a:rPr lang="en-US" altLang="ko-KR" sz="2000" dirty="0"/>
              <a:t>-&gt; </a:t>
            </a:r>
            <a:r>
              <a:rPr lang="ko-KR" altLang="en-US" sz="2000" dirty="0"/>
              <a:t>시스템 구현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>
                <a:solidFill>
                  <a:srgbClr val="FF0000"/>
                </a:solidFill>
              </a:rPr>
              <a:t>전투 시스템 구현 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진행 중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br>
              <a:rPr lang="en-US" altLang="ko-KR" sz="2000" dirty="0"/>
            </a:br>
            <a:r>
              <a:rPr lang="ko-KR" altLang="en-US" sz="2000" dirty="0"/>
              <a:t>기본 행동 시스템 </a:t>
            </a:r>
            <a:r>
              <a:rPr lang="en-US" altLang="ko-KR" sz="2000" dirty="0"/>
              <a:t>(</a:t>
            </a:r>
            <a:r>
              <a:rPr lang="ko-KR" altLang="en-US" sz="2000" dirty="0"/>
              <a:t>완료</a:t>
            </a:r>
            <a:r>
              <a:rPr lang="en-US" altLang="ko-KR" sz="2000" dirty="0"/>
              <a:t>) -&gt; </a:t>
            </a:r>
            <a:r>
              <a:rPr lang="ko-KR" altLang="en-US" sz="2000" dirty="0"/>
              <a:t>턴 시스템 </a:t>
            </a:r>
            <a:r>
              <a:rPr lang="en-US" altLang="ko-KR" sz="2000" dirty="0"/>
              <a:t>(</a:t>
            </a:r>
            <a:r>
              <a:rPr lang="ko-KR" altLang="en-US" sz="2000" dirty="0"/>
              <a:t>완료</a:t>
            </a:r>
            <a:r>
              <a:rPr lang="en-US" altLang="ko-KR" sz="2000" dirty="0"/>
              <a:t>) -&gt; </a:t>
            </a:r>
            <a:r>
              <a:rPr lang="ko-KR" altLang="en-US" sz="2000" dirty="0"/>
              <a:t>스킬 시스템 </a:t>
            </a:r>
            <a:r>
              <a:rPr lang="en-US" altLang="ko-KR" sz="2000" dirty="0"/>
              <a:t>(</a:t>
            </a:r>
            <a:r>
              <a:rPr lang="ko-KR" altLang="en-US" sz="2000" dirty="0"/>
              <a:t>구현 중</a:t>
            </a:r>
            <a:r>
              <a:rPr lang="en-US" altLang="ko-KR" sz="2000" dirty="0"/>
              <a:t>) -&gt; Enemy AI</a:t>
            </a:r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맵 디자인 </a:t>
            </a:r>
            <a:r>
              <a:rPr lang="en-US" altLang="ko-KR" sz="2000" dirty="0"/>
              <a:t>(</a:t>
            </a:r>
            <a:r>
              <a:rPr lang="ko-KR" altLang="en-US" sz="2000" dirty="0"/>
              <a:t>예정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ko-KR" altLang="en-US" sz="2000" dirty="0"/>
              <a:t>마을</a:t>
            </a:r>
            <a:r>
              <a:rPr lang="en-US" altLang="ko-KR" sz="2000" dirty="0"/>
              <a:t>, </a:t>
            </a:r>
            <a:r>
              <a:rPr lang="ko-KR" altLang="en-US" sz="2000" dirty="0"/>
              <a:t>필드</a:t>
            </a:r>
            <a:r>
              <a:rPr lang="en-US" altLang="ko-KR" sz="2000" dirty="0"/>
              <a:t>, </a:t>
            </a:r>
            <a:r>
              <a:rPr lang="ko-KR" altLang="en-US" sz="2000" dirty="0"/>
              <a:t>전투 맵 </a:t>
            </a:r>
            <a:r>
              <a:rPr lang="en-US" altLang="ko-KR" sz="2000" dirty="0"/>
              <a:t>3</a:t>
            </a:r>
            <a:r>
              <a:rPr lang="ko-KR" altLang="en-US" sz="2000" dirty="0"/>
              <a:t>종 디자인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애니메이션 및 사운드 추가 </a:t>
            </a:r>
            <a:r>
              <a:rPr lang="en-US" altLang="ko-KR" sz="2000" dirty="0"/>
              <a:t>(</a:t>
            </a:r>
            <a:r>
              <a:rPr lang="ko-KR" altLang="en-US" sz="2000" dirty="0"/>
              <a:t>예정</a:t>
            </a:r>
            <a:r>
              <a:rPr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827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872</Words>
  <Application>Microsoft Office PowerPoint</Application>
  <PresentationFormat>와이드스크린</PresentationFormat>
  <Paragraphs>114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페이퍼로지 6 SemiBold</vt:lpstr>
      <vt:lpstr>페이퍼로지 7 Bold</vt:lpstr>
      <vt:lpstr>페이퍼로지 8 ExtraBold</vt:lpstr>
      <vt:lpstr>Arial</vt:lpstr>
      <vt:lpstr>Office 테마</vt:lpstr>
      <vt:lpstr>Atelier Of Alchemist</vt:lpstr>
      <vt:lpstr>1. 개요</vt:lpstr>
      <vt:lpstr>2. 기획 의도</vt:lpstr>
      <vt:lpstr>3. 게임 플레이</vt:lpstr>
      <vt:lpstr>4. 레벨 디자인</vt:lpstr>
      <vt:lpstr>4. 레벨 디자인</vt:lpstr>
      <vt:lpstr>4. 레벨 디자인</vt:lpstr>
      <vt:lpstr>5. 게임 시스템</vt:lpstr>
      <vt:lpstr>5. 게임 시스템</vt:lpstr>
      <vt:lpstr>6. 시스템 구현</vt:lpstr>
      <vt:lpstr>6. 시스템 구현</vt:lpstr>
      <vt:lpstr>6. 시스템 구현</vt:lpstr>
      <vt:lpstr>7. UI – 필드</vt:lpstr>
      <vt:lpstr>7. UI – 인벤토리</vt:lpstr>
      <vt:lpstr>7. UI – 전투</vt:lpstr>
      <vt:lpstr>8. 개발 계획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Of Alchemist</dc:title>
  <dc:creator>Dclass</dc:creator>
  <cp:lastModifiedBy>Dclass</cp:lastModifiedBy>
  <cp:revision>14</cp:revision>
  <dcterms:created xsi:type="dcterms:W3CDTF">2025-12-19T02:14:49Z</dcterms:created>
  <dcterms:modified xsi:type="dcterms:W3CDTF">2025-12-19T05:30:50Z</dcterms:modified>
</cp:coreProperties>
</file>